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y="5143500" cx="9144000"/>
  <p:notesSz cx="6858000" cy="9144000"/>
  <p:embeddedFontLst>
    <p:embeddedFont>
      <p:font typeface="Libre Franklin"/>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LibreFranklin-italic.fntdata"/><Relationship Id="rId81"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LibreFranklin-bold.fntdata"/><Relationship Id="rId34" Type="http://schemas.openxmlformats.org/officeDocument/2006/relationships/slide" Target="slides/slide29.xml"/><Relationship Id="rId78" Type="http://schemas.openxmlformats.org/officeDocument/2006/relationships/font" Target="fonts/LibreFranklin-regular.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3d4b3a42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g3d3d4b3a42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3d4b3a425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g3d3d4b3a425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3d4b3a425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 name="Google Shape;73;g3d3d4b3a42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3d4b3a425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g3d3d4b3a425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3d4b3a425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g3d3d4b3a425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3d4b3a425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g3d3d4b3a425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3d4b3a425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g3d3d4b3a425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3d4b3a425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3d3d4b3a425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3d4b3a425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3d3d4b3a425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3d4b3a425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d3d4b3a425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3d4b3a425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g3d3d4b3a425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3d4b3a425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3d3d4b3a425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3d4b3a425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d3d4b3a425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3d4b3a425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d3d4b3a425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3d4b3a425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d3d4b3a425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3d4b3a425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d3d4b3a42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3d4b3a425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3d3d4b3a425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3d4b3a425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3d3d4b3a425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3d4b3a425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d3d4b3a425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3d4b3a425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d3d4b3a425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3d4b3a425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3d3d4b3a425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3d4b3a425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3d3d4b3a425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3d4b3a425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3d3d4b3a425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3d4b3a425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d3d4b3a425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3d4b3a425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d3d4b3a425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3d4b3a425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d3d4b3a425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3d4b3a425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d3d4b3a425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3d4b3a425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d3d4b3a425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3d4b3a425_0_1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d3d4b3a425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3d4b3a425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d3d4b3a425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3d4b3a425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d3d4b3a425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3d4b3a425_0_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d3d4b3a425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3d4b3a425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d3d4b3a425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3d4b3a425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g3d3d4b3a425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3d4b3a425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d3d4b3a425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3d4b3a425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d3d4b3a425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3d4b3a425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d3d4b3a425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3d4b3a425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3d3d4b3a425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3d4b3a425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d3d4b3a425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3d4b3a425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d3d4b3a425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44de4f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g3d44de4f61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44de4f616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3d44de4f616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44de4f616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d44de4f61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44de4f61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d44de4f616_0_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d44de4f616_0_1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44de4f616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44de4f616_0_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d44de4f616_0_1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44de4f616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44de4f616_0_2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d44de4f616_0_2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44de4f616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44de4f616_0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44de4f616_0_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44de4f616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44de4f616_0_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d44de4f616_0_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44de4f616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d44de4f616_0_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d44de4f616_0_4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44de4f616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44de4f616_0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d44de4f616_0_4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44de4f616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44de4f616_0_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d44de4f616_0_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44de4f616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d44de4f616_0_5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d44de4f616_0_5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d44de4f616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g3d44de4f616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44de4f616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3d44de4f616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44de4f616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d44de4f616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44de4f616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d44de4f616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44de4f616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g3d44de4f616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44de4f616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g3d44de4f616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44de4f616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d44de4f616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d44de4f616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g3d44de4f616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44de4f616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44de4f616_0_10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d44de4f616_0_10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44de4f616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44de4f616_0_10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d44de4f616_0_10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44de4f616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d44de4f616_0_1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d44de4f616_0_11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44de4f616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d44de4f616_0_1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d44de4f616_0_11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44de4f616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44de4f616_0_1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d44de4f616_0_12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44de4f616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44de4f616_0_1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d44de4f616_0_12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44de4f616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d44de4f616_0_1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d44de4f616_0_1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44de4f616_0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44de4f616_0_1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d44de4f616_0_13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44de4f616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44de4f616_0_1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d44de4f616_0_14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44de4f616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3d44de4f616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d44de4f616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g3d44de4f616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d44de4f616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g3d44de4f616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lvl1pPr lvl="0" algn="l">
              <a:lnSpc>
                <a:spcPct val="89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1028700" y="1714500"/>
            <a:ext cx="7200900" cy="2686200"/>
          </a:xfrm>
          <a:prstGeom prst="rect">
            <a:avLst/>
          </a:prstGeom>
          <a:noFill/>
          <a:ln>
            <a:noFill/>
          </a:ln>
        </p:spPr>
        <p:txBody>
          <a:bodyPr anchorCtr="0" anchor="t" bIns="34275" lIns="68575" spcFirstLastPara="1" rIns="68575" wrap="square" tIns="34275">
            <a:normAutofit/>
          </a:bodyPr>
          <a:lstStyle>
            <a:lvl1pPr indent="-317500" lvl="0" marL="457200" algn="l">
              <a:lnSpc>
                <a:spcPct val="94000"/>
              </a:lnSpc>
              <a:spcBef>
                <a:spcPts val="800"/>
              </a:spcBef>
              <a:spcAft>
                <a:spcPts val="0"/>
              </a:spcAft>
              <a:buClr>
                <a:schemeClr val="dk2"/>
              </a:buClr>
              <a:buSzPts val="1400"/>
              <a:buChar char="■"/>
              <a:defRPr/>
            </a:lvl1pPr>
            <a:lvl2pPr indent="-317500" lvl="1" marL="914400" algn="l">
              <a:lnSpc>
                <a:spcPct val="94000"/>
              </a:lnSpc>
              <a:spcBef>
                <a:spcPts val="400"/>
              </a:spcBef>
              <a:spcAft>
                <a:spcPts val="0"/>
              </a:spcAft>
              <a:buClr>
                <a:schemeClr val="dk2"/>
              </a:buClr>
              <a:buSzPts val="1400"/>
              <a:buChar char="–"/>
              <a:defRPr/>
            </a:lvl2pPr>
            <a:lvl3pPr indent="-317500" lvl="2" marL="1371600" algn="l">
              <a:lnSpc>
                <a:spcPct val="94000"/>
              </a:lnSpc>
              <a:spcBef>
                <a:spcPts val="400"/>
              </a:spcBef>
              <a:spcAft>
                <a:spcPts val="0"/>
              </a:spcAft>
              <a:buClr>
                <a:schemeClr val="dk2"/>
              </a:buClr>
              <a:buSzPts val="1400"/>
              <a:buChar char="■"/>
              <a:defRPr/>
            </a:lvl3pPr>
            <a:lvl4pPr indent="-317500" lvl="3" marL="1828800" algn="l">
              <a:lnSpc>
                <a:spcPct val="94000"/>
              </a:lnSpc>
              <a:spcBef>
                <a:spcPts val="400"/>
              </a:spcBef>
              <a:spcAft>
                <a:spcPts val="0"/>
              </a:spcAft>
              <a:buClr>
                <a:schemeClr val="dk2"/>
              </a:buClr>
              <a:buSzPts val="1400"/>
              <a:buChar char="–"/>
              <a:defRPr/>
            </a:lvl4pPr>
            <a:lvl5pPr indent="-317500" lvl="4" marL="2286000" algn="l">
              <a:lnSpc>
                <a:spcPct val="94000"/>
              </a:lnSpc>
              <a:spcBef>
                <a:spcPts val="400"/>
              </a:spcBef>
              <a:spcAft>
                <a:spcPts val="0"/>
              </a:spcAft>
              <a:buClr>
                <a:schemeClr val="dk2"/>
              </a:buClr>
              <a:buSzPts val="1400"/>
              <a:buChar char="■"/>
              <a:defRPr/>
            </a:lvl5pPr>
            <a:lvl6pPr indent="-317500" lvl="5" marL="2743200" algn="l">
              <a:lnSpc>
                <a:spcPct val="94000"/>
              </a:lnSpc>
              <a:spcBef>
                <a:spcPts val="400"/>
              </a:spcBef>
              <a:spcAft>
                <a:spcPts val="0"/>
              </a:spcAft>
              <a:buClr>
                <a:schemeClr val="dk2"/>
              </a:buClr>
              <a:buSzPts val="1400"/>
              <a:buChar char="–"/>
              <a:defRPr/>
            </a:lvl6pPr>
            <a:lvl7pPr indent="-317500" lvl="6" marL="3200400" algn="l">
              <a:lnSpc>
                <a:spcPct val="94000"/>
              </a:lnSpc>
              <a:spcBef>
                <a:spcPts val="400"/>
              </a:spcBef>
              <a:spcAft>
                <a:spcPts val="0"/>
              </a:spcAft>
              <a:buClr>
                <a:schemeClr val="dk2"/>
              </a:buClr>
              <a:buSzPts val="1400"/>
              <a:buChar char="■"/>
              <a:defRPr/>
            </a:lvl7pPr>
            <a:lvl8pPr indent="-317500" lvl="7" marL="3657600" algn="l">
              <a:lnSpc>
                <a:spcPct val="94000"/>
              </a:lnSpc>
              <a:spcBef>
                <a:spcPts val="400"/>
              </a:spcBef>
              <a:spcAft>
                <a:spcPts val="0"/>
              </a:spcAft>
              <a:buClr>
                <a:schemeClr val="dk2"/>
              </a:buClr>
              <a:buSzPts val="1400"/>
              <a:buChar char="–"/>
              <a:defRPr/>
            </a:lvl8pPr>
            <a:lvl9pPr indent="-317500" lvl="8" marL="4114800" algn="l">
              <a:lnSpc>
                <a:spcPct val="94000"/>
              </a:lnSpc>
              <a:spcBef>
                <a:spcPts val="400"/>
              </a:spcBef>
              <a:spcAft>
                <a:spcPts val="200"/>
              </a:spcAft>
              <a:buClr>
                <a:schemeClr val="dk2"/>
              </a:buClr>
              <a:buSzPts val="1400"/>
              <a:buChar char="■"/>
              <a:defRPr/>
            </a:lvl9pPr>
          </a:lstStyle>
          <a:p/>
        </p:txBody>
      </p:sp>
      <p:sp>
        <p:nvSpPr>
          <p:cNvPr id="53" name="Google Shape;53;p13"/>
          <p:cNvSpPr txBox="1"/>
          <p:nvPr>
            <p:ph idx="10" type="dt"/>
          </p:nvPr>
        </p:nvSpPr>
        <p:spPr>
          <a:xfrm>
            <a:off x="1042988" y="4840040"/>
            <a:ext cx="903300" cy="3036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4" name="Google Shape;54;p13"/>
          <p:cNvSpPr txBox="1"/>
          <p:nvPr>
            <p:ph idx="11" type="ftr"/>
          </p:nvPr>
        </p:nvSpPr>
        <p:spPr>
          <a:xfrm>
            <a:off x="2170173" y="4840040"/>
            <a:ext cx="4710600" cy="3036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5" name="Google Shape;55;p13"/>
          <p:cNvSpPr txBox="1"/>
          <p:nvPr>
            <p:ph idx="12" type="sldNum"/>
          </p:nvPr>
        </p:nvSpPr>
        <p:spPr>
          <a:xfrm>
            <a:off x="7104552" y="4840040"/>
            <a:ext cx="1197300" cy="30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4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38.png"/><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3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40.png"/><Relationship Id="rId4" Type="http://schemas.openxmlformats.org/officeDocument/2006/relationships/image" Target="../media/image4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0" y="0"/>
            <a:ext cx="91440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pic>
        <p:nvPicPr>
          <p:cNvPr descr="extreme close up of line chart graphic" id="61" name="Google Shape;61;p14"/>
          <p:cNvPicPr preferRelativeResize="0"/>
          <p:nvPr/>
        </p:nvPicPr>
        <p:blipFill rotWithShape="1">
          <a:blip r:embed="rId3">
            <a:alphaModFix/>
          </a:blip>
          <a:srcRect b="0" l="0" r="0" t="9999"/>
          <a:stretch/>
        </p:blipFill>
        <p:spPr>
          <a:xfrm>
            <a:off x="15" y="8"/>
            <a:ext cx="9143988" cy="5143493"/>
          </a:xfrm>
          <a:prstGeom prst="rect">
            <a:avLst/>
          </a:prstGeom>
          <a:noFill/>
          <a:ln>
            <a:noFill/>
          </a:ln>
        </p:spPr>
      </p:pic>
      <p:sp>
        <p:nvSpPr>
          <p:cNvPr id="62" name="Google Shape;62;p14"/>
          <p:cNvSpPr/>
          <p:nvPr/>
        </p:nvSpPr>
        <p:spPr>
          <a:xfrm rot="10800000">
            <a:off x="4252515" y="2782607"/>
            <a:ext cx="1598694" cy="1373258"/>
          </a:xfrm>
          <a:custGeom>
            <a:rect b="b" l="l" r="r" t="t"/>
            <a:pathLst>
              <a:path extrusionOk="0" h="1983044" w="2308583">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6941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 name="Google Shape;63;p14"/>
          <p:cNvSpPr/>
          <p:nvPr/>
        </p:nvSpPr>
        <p:spPr>
          <a:xfrm>
            <a:off x="4603503" y="3125066"/>
            <a:ext cx="4206000" cy="1530000"/>
          </a:xfrm>
          <a:prstGeom prst="rect">
            <a:avLst/>
          </a:prstGeom>
          <a:solidFill>
            <a:srgbClr val="000000">
              <a:alpha val="800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ibre Franklin"/>
              <a:ea typeface="Libre Franklin"/>
              <a:cs typeface="Libre Franklin"/>
              <a:sym typeface="Libre Franklin"/>
            </a:endParaRPr>
          </a:p>
        </p:txBody>
      </p:sp>
      <p:sp>
        <p:nvSpPr>
          <p:cNvPr id="64" name="Google Shape;64;p14"/>
          <p:cNvSpPr txBox="1"/>
          <p:nvPr>
            <p:ph type="ctrTitle"/>
          </p:nvPr>
        </p:nvSpPr>
        <p:spPr>
          <a:xfrm>
            <a:off x="5292851" y="3590813"/>
            <a:ext cx="3951300" cy="814800"/>
          </a:xfrm>
          <a:prstGeom prst="rect">
            <a:avLst/>
          </a:prstGeom>
          <a:noFill/>
          <a:ln>
            <a:noFill/>
          </a:ln>
        </p:spPr>
        <p:txBody>
          <a:bodyPr anchorCtr="0" anchor="b" bIns="34275" lIns="68575" spcFirstLastPara="1" rIns="68575" wrap="square" tIns="34275">
            <a:normAutofit/>
          </a:bodyPr>
          <a:lstStyle/>
          <a:p>
            <a:pPr indent="0" lvl="0" marL="0" rtl="0" algn="l">
              <a:lnSpc>
                <a:spcPct val="89000"/>
              </a:lnSpc>
              <a:spcBef>
                <a:spcPts val="0"/>
              </a:spcBef>
              <a:spcAft>
                <a:spcPts val="0"/>
              </a:spcAft>
              <a:buClr>
                <a:schemeClr val="lt1"/>
              </a:buClr>
              <a:buSzPts val="2700"/>
              <a:buFont typeface="Algerian"/>
              <a:buNone/>
            </a:pPr>
            <a:r>
              <a:rPr lang="en" sz="2700">
                <a:solidFill>
                  <a:schemeClr val="lt1"/>
                </a:solidFill>
                <a:latin typeface="Algerian"/>
                <a:ea typeface="Algerian"/>
                <a:cs typeface="Algerian"/>
                <a:sym typeface="Algerian"/>
              </a:rPr>
              <a:t>DATA SCIENCE</a:t>
            </a:r>
            <a:br>
              <a:rPr lang="en" sz="2700">
                <a:solidFill>
                  <a:schemeClr val="lt1"/>
                </a:solidFill>
                <a:latin typeface="Algerian"/>
                <a:ea typeface="Algerian"/>
                <a:cs typeface="Algerian"/>
                <a:sym typeface="Algerian"/>
              </a:rPr>
            </a:br>
            <a:endParaRPr sz="27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OVERVIEW OF DATA SCIENCE</a:t>
            </a:r>
            <a:endParaRPr sz="1200">
              <a:latin typeface="Times New Roman"/>
              <a:ea typeface="Times New Roman"/>
              <a:cs typeface="Times New Roman"/>
              <a:sym typeface="Times New Roman"/>
            </a:endParaRPr>
          </a:p>
        </p:txBody>
      </p:sp>
      <p:sp>
        <p:nvSpPr>
          <p:cNvPr id="70" name="Google Shape;70;p15"/>
          <p:cNvSpPr txBox="1"/>
          <p:nvPr>
            <p:ph idx="1" type="body"/>
          </p:nvPr>
        </p:nvSpPr>
        <p:spPr>
          <a:xfrm>
            <a:off x="914400" y="1125747"/>
            <a:ext cx="7315200" cy="32748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Data science is an interdisciplinary field that uses scientific methods, processes, algorithms, and systems to extract knowledge and insights from structured and unstructured data. It involves the use of techniques from statistics, data analysis, machine learning, and computer science to extract insights and knowledge from data.</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Data science can be applied in a wide range of fields, including business, healthcare, finance, and government, among others. The goal of data science is to turn raw data into actionable insights that can inform decision-making and improve outcomes.</a:t>
            </a:r>
            <a:endParaRPr sz="1200">
              <a:latin typeface="Times New Roman"/>
              <a:ea typeface="Times New Roman"/>
              <a:cs typeface="Times New Roman"/>
              <a:sym typeface="Times New Roman"/>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Data science is the study of data. Like biological sciences is a study of biology, physical sciences, it’s the study of physical reactions. Data is real, data has real properties, and we need to study them if we’re going to work on them. Data Science involves data and some signs. </a:t>
            </a:r>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USES OF DATA SCIENCE </a:t>
            </a:r>
            <a:endParaRPr sz="1200">
              <a:latin typeface="Times New Roman"/>
              <a:ea typeface="Times New Roman"/>
              <a:cs typeface="Times New Roman"/>
              <a:sym typeface="Times New Roman"/>
            </a:endParaRPr>
          </a:p>
        </p:txBody>
      </p:sp>
      <p:sp>
        <p:nvSpPr>
          <p:cNvPr id="76" name="Google Shape;76;p16"/>
          <p:cNvSpPr txBox="1"/>
          <p:nvPr>
            <p:ph idx="1" type="body"/>
          </p:nvPr>
        </p:nvSpPr>
        <p:spPr>
          <a:xfrm>
            <a:off x="866955" y="873425"/>
            <a:ext cx="7362600" cy="35271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Clr>
                <a:schemeClr val="dk2"/>
              </a:buClr>
              <a:buSzPts val="1200"/>
              <a:buNone/>
            </a:pPr>
            <a:r>
              <a:rPr lang="en" sz="1200">
                <a:latin typeface="Times New Roman"/>
                <a:ea typeface="Times New Roman"/>
                <a:cs typeface="Times New Roman"/>
                <a:sym typeface="Times New Roman"/>
              </a:rPr>
              <a:t>Data science is a field that involves using scientific methods, processes, algorithms, and systems to extract knowledge and insights from structured and unstructured data. It can be used in a variety of industries and applications such as: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Business</a:t>
            </a:r>
            <a:r>
              <a:rPr lang="en" sz="1200">
                <a:latin typeface="Times New Roman"/>
                <a:ea typeface="Times New Roman"/>
                <a:cs typeface="Times New Roman"/>
                <a:sym typeface="Times New Roman"/>
              </a:rPr>
              <a:t>: Data science can be used to analyze customer data, predict market trends, and optimize business operations.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Healthcare</a:t>
            </a:r>
            <a:r>
              <a:rPr lang="en" sz="1200">
                <a:latin typeface="Times New Roman"/>
                <a:ea typeface="Times New Roman"/>
                <a:cs typeface="Times New Roman"/>
                <a:sym typeface="Times New Roman"/>
              </a:rPr>
              <a:t>: Data science can be used to analyze medical data and identify patterns that can aid in diagnosis, treatment, and drug discovery.</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Finance</a:t>
            </a:r>
            <a:r>
              <a:rPr lang="en" sz="1200">
                <a:latin typeface="Times New Roman"/>
                <a:ea typeface="Times New Roman"/>
                <a:cs typeface="Times New Roman"/>
                <a:sym typeface="Times New Roman"/>
              </a:rPr>
              <a:t>: Data science can be used to identify fraud, analyze financial markets, and make investment decisions.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Social Media</a:t>
            </a:r>
            <a:r>
              <a:rPr lang="en" sz="1200">
                <a:latin typeface="Times New Roman"/>
                <a:ea typeface="Times New Roman"/>
                <a:cs typeface="Times New Roman"/>
                <a:sym typeface="Times New Roman"/>
              </a:rPr>
              <a:t>: Data science can be used to understand user behavior, recommend content, and identify influencers.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Internet of things</a:t>
            </a:r>
            <a:r>
              <a:rPr lang="en" sz="1200">
                <a:latin typeface="Times New Roman"/>
                <a:ea typeface="Times New Roman"/>
                <a:cs typeface="Times New Roman"/>
                <a:sym typeface="Times New Roman"/>
              </a:rPr>
              <a:t>: Data science can be used to analyze sensor data from IoT devices and make predictions about equipment failures, traffic patterns, and more.</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Natural Language Processing:</a:t>
            </a:r>
            <a:r>
              <a:rPr lang="en" sz="1200">
                <a:latin typeface="Times New Roman"/>
                <a:ea typeface="Times New Roman"/>
                <a:cs typeface="Times New Roman"/>
                <a:sym typeface="Times New Roman"/>
              </a:rPr>
              <a:t> Data science can be used to make computers understand human language, process large amounts of text or speech data and make predictions.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Applications of Data Science</a:t>
            </a:r>
            <a:endParaRPr sz="1200">
              <a:latin typeface="Times New Roman"/>
              <a:ea typeface="Times New Roman"/>
              <a:cs typeface="Times New Roman"/>
              <a:sym typeface="Times New Roman"/>
            </a:endParaRPr>
          </a:p>
        </p:txBody>
      </p:sp>
      <p:sp>
        <p:nvSpPr>
          <p:cNvPr id="82" name="Google Shape;82;p17"/>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Clr>
                <a:schemeClr val="dk2"/>
              </a:buClr>
              <a:buSzPts val="1200"/>
              <a:buNone/>
            </a:pPr>
            <a:r>
              <a:rPr lang="en" sz="1200">
                <a:latin typeface="Times New Roman"/>
                <a:ea typeface="Times New Roman"/>
                <a:cs typeface="Times New Roman"/>
                <a:sym typeface="Times New Roman"/>
              </a:rPr>
              <a:t>Following are some of the applications that make use of Data Science for their services:</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Internet Search Results (Google)</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Recommendation Engine (Spotify)</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Intelligent Digital Assistants (Google Assistant)</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Autonomous Driving Vehicle (Tesla)</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Spam Filter (Gmail)</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Abusive Content and Hate Speech Filter (Facebook)</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Robotics (Boston Dynamics)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p:cNvPicPr preferRelativeResize="0"/>
          <p:nvPr/>
        </p:nvPicPr>
        <p:blipFill rotWithShape="1">
          <a:blip r:embed="rId3">
            <a:alphaModFix/>
          </a:blip>
          <a:srcRect b="0" l="0" r="0" t="0"/>
          <a:stretch/>
        </p:blipFill>
        <p:spPr>
          <a:xfrm>
            <a:off x="1009522" y="135865"/>
            <a:ext cx="5473229" cy="4681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Data Mining</a:t>
            </a:r>
            <a:endParaRPr sz="1200">
              <a:latin typeface="Times New Roman"/>
              <a:ea typeface="Times New Roman"/>
              <a:cs typeface="Times New Roman"/>
              <a:sym typeface="Times New Roman"/>
            </a:endParaRPr>
          </a:p>
        </p:txBody>
      </p:sp>
      <p:sp>
        <p:nvSpPr>
          <p:cNvPr id="93" name="Google Shape;93;p19"/>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Clr>
                <a:schemeClr val="dk2"/>
              </a:buClr>
              <a:buSzPts val="1200"/>
              <a:buNone/>
            </a:pPr>
            <a:r>
              <a:rPr lang="en" sz="1200">
                <a:latin typeface="Times New Roman"/>
                <a:ea typeface="Times New Roman"/>
                <a:cs typeface="Times New Roman"/>
                <a:sym typeface="Times New Roman"/>
              </a:rPr>
              <a:t>	Data mining is the process of discovering patterns, correlations, and insights from large sets of data using statistical, mathematical, and computational techniques. It involves analyzing data from different perspectives and summarizing it into useful information, which can be used to increase revenue, cut costs, or both.</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Data Collection</a:t>
            </a:r>
            <a:r>
              <a:rPr lang="en" sz="1200">
                <a:latin typeface="Times New Roman"/>
                <a:ea typeface="Times New Roman"/>
                <a:cs typeface="Times New Roman"/>
                <a:sym typeface="Times New Roman"/>
              </a:rPr>
              <a:t>: Gather large amounts of data from various sources.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Preprocessing</a:t>
            </a:r>
            <a:r>
              <a:rPr lang="en" sz="1200">
                <a:latin typeface="Times New Roman"/>
                <a:ea typeface="Times New Roman"/>
                <a:cs typeface="Times New Roman"/>
                <a:sym typeface="Times New Roman"/>
              </a:rPr>
              <a:t>: Clean and organize the data to ensure quality and consistency.</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Pattern Discovery</a:t>
            </a:r>
            <a:r>
              <a:rPr lang="en" sz="1200">
                <a:latin typeface="Times New Roman"/>
                <a:ea typeface="Times New Roman"/>
                <a:cs typeface="Times New Roman"/>
                <a:sym typeface="Times New Roman"/>
              </a:rPr>
              <a:t>: Use algorithms to identify patterns, trends, and relationships in the data.</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Evaluation:</a:t>
            </a:r>
            <a:r>
              <a:rPr lang="en" sz="1200">
                <a:latin typeface="Times New Roman"/>
                <a:ea typeface="Times New Roman"/>
                <a:cs typeface="Times New Roman"/>
                <a:sym typeface="Times New Roman"/>
              </a:rPr>
              <a:t> Assess the discovered patterns for relevance and accuracy.</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Knowledge Representation</a:t>
            </a:r>
            <a:r>
              <a:rPr lang="en" sz="1200">
                <a:latin typeface="Times New Roman"/>
                <a:ea typeface="Times New Roman"/>
                <a:cs typeface="Times New Roman"/>
                <a:sym typeface="Times New Roman"/>
              </a:rPr>
              <a:t>: Present the discovered knowledge in an understandable format, such as graphs or reports.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Common Techniques in Data Mining:</a:t>
            </a:r>
            <a:endParaRPr sz="1200">
              <a:latin typeface="Times New Roman"/>
              <a:ea typeface="Times New Roman"/>
              <a:cs typeface="Times New Roman"/>
              <a:sym typeface="Times New Roman"/>
            </a:endParaRPr>
          </a:p>
        </p:txBody>
      </p:sp>
      <p:sp>
        <p:nvSpPr>
          <p:cNvPr id="99" name="Google Shape;99;p20"/>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Classification</a:t>
            </a:r>
            <a:r>
              <a:rPr lang="en" sz="1200">
                <a:latin typeface="Times New Roman"/>
                <a:ea typeface="Times New Roman"/>
                <a:cs typeface="Times New Roman"/>
                <a:sym typeface="Times New Roman"/>
              </a:rPr>
              <a:t>: Assigning items to predefined categories or groups.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Clustering</a:t>
            </a:r>
            <a:r>
              <a:rPr lang="en" sz="1200">
                <a:latin typeface="Times New Roman"/>
                <a:ea typeface="Times New Roman"/>
                <a:cs typeface="Times New Roman"/>
                <a:sym typeface="Times New Roman"/>
              </a:rPr>
              <a:t>: Grouping similar items together based on their characteristics.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Association</a:t>
            </a: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Rule Learning</a:t>
            </a:r>
            <a:r>
              <a:rPr lang="en" sz="1200">
                <a:latin typeface="Times New Roman"/>
                <a:ea typeface="Times New Roman"/>
                <a:cs typeface="Times New Roman"/>
                <a:sym typeface="Times New Roman"/>
              </a:rPr>
              <a:t>: Discovering interesting relationships between variables in large databases.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Regression</a:t>
            </a:r>
            <a:r>
              <a:rPr lang="en" sz="1200">
                <a:latin typeface="Times New Roman"/>
                <a:ea typeface="Times New Roman"/>
                <a:cs typeface="Times New Roman"/>
                <a:sym typeface="Times New Roman"/>
              </a:rPr>
              <a:t>: Predicting a numeric value based on input data.</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Ex.: Market Basket Analysis</a:t>
            </a:r>
            <a:r>
              <a:rPr lang="en" sz="1200">
                <a:latin typeface="Times New Roman"/>
                <a:ea typeface="Times New Roman"/>
                <a:cs typeface="Times New Roman"/>
                <a:sym typeface="Times New Roman"/>
              </a:rPr>
              <a:t>: Finding associations between products bought together (e.g., customers who buy bread often buy butter).</a:t>
            </a:r>
            <a:endParaRPr/>
          </a:p>
          <a:p>
            <a:pPr indent="0" lvl="0" marL="0" rtl="0" algn="just">
              <a:lnSpc>
                <a:spcPct val="150000"/>
              </a:lnSpc>
              <a:spcBef>
                <a:spcPts val="900"/>
              </a:spcBef>
              <a:spcAft>
                <a:spcPts val="0"/>
              </a:spcAft>
              <a:buClr>
                <a:schemeClr val="dk2"/>
              </a:buClr>
              <a:buSzPts val="1200"/>
              <a:buNone/>
            </a:pPr>
            <a:r>
              <a:t/>
            </a:r>
            <a:endParaRPr sz="12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BIG DATA</a:t>
            </a:r>
            <a:endParaRPr sz="1200">
              <a:latin typeface="Times New Roman"/>
              <a:ea typeface="Times New Roman"/>
              <a:cs typeface="Times New Roman"/>
              <a:sym typeface="Times New Roman"/>
            </a:endParaRPr>
          </a:p>
        </p:txBody>
      </p:sp>
      <p:sp>
        <p:nvSpPr>
          <p:cNvPr id="105" name="Google Shape;105;p21"/>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Big Data refers to extremely large and complex datasets that are difficult to process and analyze using traditional data processing tools. The term encompasses not only the amount of data but also the diversity, speed, and complexity of the data.</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It is an open source and huge volume of data. When we have problem in store and processing that is big data.</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Key Characteristics (The 5 V's of Big Data) / Problems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Volume </a:t>
            </a:r>
            <a:r>
              <a:rPr lang="en" sz="1200">
                <a:latin typeface="Times New Roman"/>
                <a:ea typeface="Times New Roman"/>
                <a:cs typeface="Times New Roman"/>
                <a:sym typeface="Times New Roman"/>
              </a:rPr>
              <a:t>[Huge amount of data]</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Velocity </a:t>
            </a:r>
            <a:r>
              <a:rPr lang="en" sz="1200">
                <a:latin typeface="Times New Roman"/>
                <a:ea typeface="Times New Roman"/>
                <a:cs typeface="Times New Roman"/>
                <a:sym typeface="Times New Roman"/>
              </a:rPr>
              <a:t>[Data Speed in transaction]</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Variety </a:t>
            </a:r>
            <a:r>
              <a:rPr lang="en" sz="1200">
                <a:latin typeface="Times New Roman"/>
                <a:ea typeface="Times New Roman"/>
                <a:cs typeface="Times New Roman"/>
                <a:sym typeface="Times New Roman"/>
              </a:rPr>
              <a:t>[Structured, Un – structured, Semi structured]</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Value </a:t>
            </a:r>
            <a:r>
              <a:rPr lang="en" sz="1200">
                <a:latin typeface="Times New Roman"/>
                <a:ea typeface="Times New Roman"/>
                <a:cs typeface="Times New Roman"/>
                <a:sym typeface="Times New Roman"/>
              </a:rPr>
              <a:t>[Quality]</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Veracity</a:t>
            </a:r>
            <a:r>
              <a:rPr lang="en" sz="1200">
                <a:latin typeface="Times New Roman"/>
                <a:ea typeface="Times New Roman"/>
                <a:cs typeface="Times New Roman"/>
                <a:sym typeface="Times New Roman"/>
              </a:rPr>
              <a:t> [uncertainty and trustworthiness]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SOURCES OF BIG DATA</a:t>
            </a:r>
            <a:endParaRPr sz="1200">
              <a:latin typeface="Times New Roman"/>
              <a:ea typeface="Times New Roman"/>
              <a:cs typeface="Times New Roman"/>
              <a:sym typeface="Times New Roman"/>
            </a:endParaRPr>
          </a:p>
        </p:txBody>
      </p:sp>
      <p:sp>
        <p:nvSpPr>
          <p:cNvPr id="111" name="Google Shape;111;p22"/>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Clr>
                <a:schemeClr val="dk2"/>
              </a:buClr>
              <a:buSzPts val="1200"/>
              <a:buNone/>
            </a:pPr>
            <a:r>
              <a:rPr b="1" lang="en" sz="1200">
                <a:latin typeface="Times New Roman"/>
                <a:ea typeface="Times New Roman"/>
                <a:cs typeface="Times New Roman"/>
                <a:sym typeface="Times New Roman"/>
              </a:rPr>
              <a:t>Social Media</a:t>
            </a:r>
            <a:r>
              <a:rPr lang="en" sz="1200">
                <a:latin typeface="Times New Roman"/>
                <a:ea typeface="Times New Roman"/>
                <a:cs typeface="Times New Roman"/>
                <a:sym typeface="Times New Roman"/>
              </a:rPr>
              <a:t>: Posts, comments, and interactions.</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Internet of Things (IoT)</a:t>
            </a:r>
            <a:r>
              <a:rPr lang="en" sz="1200">
                <a:latin typeface="Times New Roman"/>
                <a:ea typeface="Times New Roman"/>
                <a:cs typeface="Times New Roman"/>
                <a:sym typeface="Times New Roman"/>
              </a:rPr>
              <a:t>: Data from connected devices and sensors.</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Transactions</a:t>
            </a:r>
            <a:r>
              <a:rPr lang="en" sz="1200">
                <a:latin typeface="Times New Roman"/>
                <a:ea typeface="Times New Roman"/>
                <a:cs typeface="Times New Roman"/>
                <a:sym typeface="Times New Roman"/>
              </a:rPr>
              <a:t>: Sales records, financial transactions.</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Web Logs</a:t>
            </a:r>
            <a:r>
              <a:rPr lang="en" sz="1200">
                <a:latin typeface="Times New Roman"/>
                <a:ea typeface="Times New Roman"/>
                <a:cs typeface="Times New Roman"/>
                <a:sym typeface="Times New Roman"/>
              </a:rPr>
              <a:t>: User behavior and interaction logs.</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Multimedia</a:t>
            </a:r>
            <a:r>
              <a:rPr lang="en" sz="1200">
                <a:latin typeface="Times New Roman"/>
                <a:ea typeface="Times New Roman"/>
                <a:cs typeface="Times New Roman"/>
                <a:sym typeface="Times New Roman"/>
              </a:rPr>
              <a:t>: Videos, images, audio files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TECHNOLOGIES FOR BIG DATA</a:t>
            </a:r>
            <a:endParaRPr sz="1200">
              <a:latin typeface="Times New Roman"/>
              <a:ea typeface="Times New Roman"/>
              <a:cs typeface="Times New Roman"/>
              <a:sym typeface="Times New Roman"/>
            </a:endParaRPr>
          </a:p>
        </p:txBody>
      </p:sp>
      <p:sp>
        <p:nvSpPr>
          <p:cNvPr id="117" name="Google Shape;117;p23"/>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Hadoop</a:t>
            </a:r>
            <a:r>
              <a:rPr lang="en" sz="1200">
                <a:latin typeface="Times New Roman"/>
                <a:ea typeface="Times New Roman"/>
                <a:cs typeface="Times New Roman"/>
                <a:sym typeface="Times New Roman"/>
              </a:rPr>
              <a:t>: An open-source framework that allows for the distributed processing of large data sets across clusters of computers.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Spark</a:t>
            </a:r>
            <a:r>
              <a:rPr lang="en" sz="1200">
                <a:latin typeface="Times New Roman"/>
                <a:ea typeface="Times New Roman"/>
                <a:cs typeface="Times New Roman"/>
                <a:sym typeface="Times New Roman"/>
              </a:rPr>
              <a:t>: A fast and general-purpose cluster computing system. It is used only for data processing. I will integrate with any No SQL-DB.</a:t>
            </a:r>
            <a:endParaRPr/>
          </a:p>
          <a:p>
            <a:pPr indent="-285750" lvl="2" marL="1028700" rtl="0" algn="just">
              <a:lnSpc>
                <a:spcPct val="150000"/>
              </a:lnSpc>
              <a:spcBef>
                <a:spcPts val="500"/>
              </a:spcBef>
              <a:spcAft>
                <a:spcPts val="0"/>
              </a:spcAft>
              <a:buClr>
                <a:schemeClr val="dk2"/>
              </a:buClr>
              <a:buSzPts val="1100"/>
              <a:buFont typeface="Noto Sans Symbols"/>
              <a:buChar char="▪"/>
            </a:pPr>
            <a:r>
              <a:rPr lang="en" sz="1100">
                <a:latin typeface="Times New Roman"/>
                <a:ea typeface="Times New Roman"/>
                <a:cs typeface="Times New Roman"/>
                <a:sym typeface="Times New Roman"/>
              </a:rPr>
              <a:t>Batch Processing</a:t>
            </a:r>
            <a:endParaRPr/>
          </a:p>
          <a:p>
            <a:pPr indent="-285750" lvl="2" marL="1028700" rtl="0" algn="just">
              <a:lnSpc>
                <a:spcPct val="150000"/>
              </a:lnSpc>
              <a:spcBef>
                <a:spcPts val="500"/>
              </a:spcBef>
              <a:spcAft>
                <a:spcPts val="0"/>
              </a:spcAft>
              <a:buClr>
                <a:schemeClr val="dk2"/>
              </a:buClr>
              <a:buSzPts val="1100"/>
              <a:buFont typeface="Noto Sans Symbols"/>
              <a:buChar char="▪"/>
            </a:pPr>
            <a:r>
              <a:rPr lang="en" sz="1100">
                <a:latin typeface="Times New Roman"/>
                <a:ea typeface="Times New Roman"/>
                <a:cs typeface="Times New Roman"/>
                <a:sym typeface="Times New Roman"/>
              </a:rPr>
              <a:t>Stream Processing</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NoSQL Databases</a:t>
            </a:r>
            <a:r>
              <a:rPr lang="en" sz="1200">
                <a:latin typeface="Times New Roman"/>
                <a:ea typeface="Times New Roman"/>
                <a:cs typeface="Times New Roman"/>
                <a:sym typeface="Times New Roman"/>
              </a:rPr>
              <a:t>: Databases like MongoDB and Cassandra designed to handle unstructured data.</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Data Lakes</a:t>
            </a:r>
            <a:r>
              <a:rPr lang="en" sz="1200">
                <a:latin typeface="Times New Roman"/>
                <a:ea typeface="Times New Roman"/>
                <a:cs typeface="Times New Roman"/>
                <a:sym typeface="Times New Roman"/>
              </a:rPr>
              <a:t>: Storage repositories that hold vast amounts of raw data in its native format.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APPLICATIONS:</a:t>
            </a:r>
            <a:endParaRPr sz="1200">
              <a:latin typeface="Times New Roman"/>
              <a:ea typeface="Times New Roman"/>
              <a:cs typeface="Times New Roman"/>
              <a:sym typeface="Times New Roman"/>
            </a:endParaRPr>
          </a:p>
        </p:txBody>
      </p:sp>
      <p:sp>
        <p:nvSpPr>
          <p:cNvPr id="123" name="Google Shape;123;p24"/>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Business Analytics</a:t>
            </a:r>
            <a:r>
              <a:rPr lang="en" sz="1200">
                <a:latin typeface="Times New Roman"/>
                <a:ea typeface="Times New Roman"/>
                <a:cs typeface="Times New Roman"/>
                <a:sym typeface="Times New Roman"/>
              </a:rPr>
              <a:t>: Improving decision-making and operational efficiency.</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Healthcare</a:t>
            </a:r>
            <a:r>
              <a:rPr lang="en" sz="1200">
                <a:latin typeface="Times New Roman"/>
                <a:ea typeface="Times New Roman"/>
                <a:cs typeface="Times New Roman"/>
                <a:sym typeface="Times New Roman"/>
              </a:rPr>
              <a:t>: Analyzing patient data for better diagnosis and treatment.</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Finance</a:t>
            </a:r>
            <a:r>
              <a:rPr lang="en" sz="1200">
                <a:latin typeface="Times New Roman"/>
                <a:ea typeface="Times New Roman"/>
                <a:cs typeface="Times New Roman"/>
                <a:sym typeface="Times New Roman"/>
              </a:rPr>
              <a:t>: Detecting fraud and managing risk.</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Marketing</a:t>
            </a:r>
            <a:r>
              <a:rPr lang="en" sz="1200">
                <a:latin typeface="Times New Roman"/>
                <a:ea typeface="Times New Roman"/>
                <a:cs typeface="Times New Roman"/>
                <a:sym typeface="Times New Roman"/>
              </a:rPr>
              <a:t>: Personalizing advertisements and improving customer experiences.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Machine learning in industry - ATRIA Innovation" id="128" name="Google Shape;128;p25"/>
          <p:cNvPicPr preferRelativeResize="0"/>
          <p:nvPr/>
        </p:nvPicPr>
        <p:blipFill rotWithShape="1">
          <a:blip r:embed="rId3">
            <a:alphaModFix/>
          </a:blip>
          <a:srcRect b="0" l="0" r="0" t="0"/>
          <a:stretch/>
        </p:blipFill>
        <p:spPr>
          <a:xfrm>
            <a:off x="838200" y="0"/>
            <a:ext cx="7466409"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A comparative view of AI, machine learning, deep learning, and generative AI (source [16])." id="133" name="Google Shape;133;p26"/>
          <p:cNvPicPr preferRelativeResize="0"/>
          <p:nvPr/>
        </p:nvPicPr>
        <p:blipFill rotWithShape="1">
          <a:blip r:embed="rId3">
            <a:alphaModFix/>
          </a:blip>
          <a:srcRect b="0" l="0" r="0" t="0"/>
          <a:stretch/>
        </p:blipFill>
        <p:spPr>
          <a:xfrm>
            <a:off x="925182" y="107324"/>
            <a:ext cx="7783184" cy="50361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Deep Learning vs Machine Learning: The Ultimate Battle." id="138" name="Google Shape;138;p27"/>
          <p:cNvPicPr preferRelativeResize="0"/>
          <p:nvPr/>
        </p:nvPicPr>
        <p:blipFill rotWithShape="1">
          <a:blip r:embed="rId3">
            <a:alphaModFix/>
          </a:blip>
          <a:srcRect b="0" l="0" r="0" t="0"/>
          <a:stretch/>
        </p:blipFill>
        <p:spPr>
          <a:xfrm>
            <a:off x="1143000" y="0"/>
            <a:ext cx="6858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DATA AND CONCEPTS</a:t>
            </a:r>
            <a:endParaRPr sz="1200">
              <a:latin typeface="Times New Roman"/>
              <a:ea typeface="Times New Roman"/>
              <a:cs typeface="Times New Roman"/>
              <a:sym typeface="Times New Roman"/>
            </a:endParaRPr>
          </a:p>
        </p:txBody>
      </p:sp>
      <p:sp>
        <p:nvSpPr>
          <p:cNvPr id="144" name="Google Shape;144;p28"/>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Analyze, Identify Patterns and Make Decisions</a:t>
            </a:r>
            <a:endParaRPr/>
          </a:p>
          <a:p>
            <a:pPr indent="-292100" lvl="1" marL="685800" rtl="0" algn="just">
              <a:lnSpc>
                <a:spcPct val="150000"/>
              </a:lnSpc>
              <a:spcBef>
                <a:spcPts val="5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Numerical Data          ===</a:t>
            </a:r>
            <a:r>
              <a:rPr i="0" lang="en" sz="1200">
                <a:latin typeface="Times New Roman"/>
                <a:ea typeface="Times New Roman"/>
                <a:cs typeface="Times New Roman"/>
                <a:sym typeface="Times New Roman"/>
              </a:rPr>
              <a:t>🡺  Machine Learning and Deep Learning</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Listen and Speak</a:t>
            </a:r>
            <a:endParaRPr/>
          </a:p>
          <a:p>
            <a:pPr indent="-292100" lvl="1" marL="685800" rtl="0" algn="just">
              <a:lnSpc>
                <a:spcPct val="150000"/>
              </a:lnSpc>
              <a:spcBef>
                <a:spcPts val="5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Text or Audio Data     ===</a:t>
            </a:r>
            <a:r>
              <a:rPr i="0" lang="en" sz="1200">
                <a:latin typeface="Times New Roman"/>
                <a:ea typeface="Times New Roman"/>
                <a:cs typeface="Times New Roman"/>
                <a:sym typeface="Times New Roman"/>
              </a:rPr>
              <a:t>🡺  Machine Learning and Natural Language Processing</a:t>
            </a:r>
            <a:endParaRPr sz="1200">
              <a:latin typeface="Times New Roman"/>
              <a:ea typeface="Times New Roman"/>
              <a:cs typeface="Times New Roman"/>
              <a:sym typeface="Times New Roman"/>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See and Recognize</a:t>
            </a:r>
            <a:endParaRPr/>
          </a:p>
          <a:p>
            <a:pPr indent="-292100" lvl="1" marL="685800" rtl="0" algn="just">
              <a:lnSpc>
                <a:spcPct val="150000"/>
              </a:lnSpc>
              <a:spcBef>
                <a:spcPts val="5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Image or Video Data   ===🡺 </a:t>
            </a:r>
            <a:r>
              <a:rPr i="0" lang="en" sz="1200">
                <a:latin typeface="Times New Roman"/>
                <a:ea typeface="Times New Roman"/>
                <a:cs typeface="Times New Roman"/>
                <a:sym typeface="Times New Roman"/>
              </a:rPr>
              <a:t>Computer Vision and Deep Learning</a:t>
            </a:r>
            <a:endParaRPr b="1" i="0" sz="12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1028700" y="514350"/>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STEPS</a:t>
            </a:r>
            <a:endParaRPr/>
          </a:p>
        </p:txBody>
      </p:sp>
      <p:sp>
        <p:nvSpPr>
          <p:cNvPr id="150" name="Google Shape;150;p29"/>
          <p:cNvSpPr txBox="1"/>
          <p:nvPr>
            <p:ph idx="1" type="body"/>
          </p:nvPr>
        </p:nvSpPr>
        <p:spPr>
          <a:xfrm>
            <a:off x="914400" y="1080458"/>
            <a:ext cx="7315200" cy="3320100"/>
          </a:xfrm>
          <a:prstGeom prst="rect">
            <a:avLst/>
          </a:prstGeom>
          <a:noFill/>
          <a:ln>
            <a:noFill/>
          </a:ln>
        </p:spPr>
        <p:txBody>
          <a:bodyPr anchorCtr="0" anchor="t" bIns="34275" lIns="68575" spcFirstLastPara="1" rIns="68575" wrap="square" tIns="34275">
            <a:noAutofit/>
          </a:bodyPr>
          <a:lstStyle/>
          <a:p>
            <a:pPr indent="-292100" lvl="0" marL="292100" rtl="0" algn="just">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Gathering Data</a:t>
            </a:r>
            <a:endParaRPr/>
          </a:p>
          <a:p>
            <a:pPr indent="-292100" lvl="0" marL="292100" rtl="0" algn="just">
              <a:lnSpc>
                <a:spcPct val="150000"/>
              </a:lnSpc>
              <a:spcBef>
                <a:spcPts val="9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Data Preparation</a:t>
            </a:r>
            <a:endParaRPr/>
          </a:p>
          <a:p>
            <a:pPr indent="-292100" lvl="0" marL="292100" rtl="0" algn="just">
              <a:lnSpc>
                <a:spcPct val="150000"/>
              </a:lnSpc>
              <a:spcBef>
                <a:spcPts val="9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Choosing a model</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Training</a:t>
            </a:r>
            <a:endParaRPr/>
          </a:p>
          <a:p>
            <a:pPr indent="-292100" lvl="0" marL="292100" rtl="0" algn="just">
              <a:lnSpc>
                <a:spcPct val="150000"/>
              </a:lnSpc>
              <a:spcBef>
                <a:spcPts val="9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Evaluation</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Parameter Tuning</a:t>
            </a:r>
            <a:endParaRPr/>
          </a:p>
          <a:p>
            <a:pPr indent="-292100" lvl="0" marL="292100" rtl="0" algn="just">
              <a:lnSpc>
                <a:spcPct val="150000"/>
              </a:lnSpc>
              <a:spcBef>
                <a:spcPts val="900"/>
              </a:spcBef>
              <a:spcAft>
                <a:spcPts val="0"/>
              </a:spcAft>
              <a:buClr>
                <a:schemeClr val="dk2"/>
              </a:buClr>
              <a:buSzPts val="1200"/>
              <a:buFont typeface="Noto Sans Symbols"/>
              <a:buChar char="⮚"/>
            </a:pPr>
            <a:r>
              <a:rPr b="1" i="0" lang="en" sz="1200">
                <a:latin typeface="Times New Roman"/>
                <a:ea typeface="Times New Roman"/>
                <a:cs typeface="Times New Roman"/>
                <a:sym typeface="Times New Roman"/>
              </a:rPr>
              <a:t>Prediction</a:t>
            </a:r>
            <a:endParaRPr/>
          </a:p>
          <a:p>
            <a:pPr indent="0" lvl="0" marL="0" rtl="0" algn="just">
              <a:lnSpc>
                <a:spcPct val="150000"/>
              </a:lnSpc>
              <a:spcBef>
                <a:spcPts val="900"/>
              </a:spcBef>
              <a:spcAft>
                <a:spcPts val="0"/>
              </a:spcAft>
              <a:buClr>
                <a:schemeClr val="dk2"/>
              </a:buClr>
              <a:buSzPts val="1200"/>
              <a:buNone/>
            </a:pPr>
            <a:r>
              <a:t/>
            </a:r>
            <a:endParaRPr b="1" i="0" sz="12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The Data Disconnect: A Key Challenge for Machine Learning Deployment -  insideBIGDATA" id="155" name="Google Shape;155;p30"/>
          <p:cNvPicPr preferRelativeResize="0"/>
          <p:nvPr/>
        </p:nvPicPr>
        <p:blipFill rotWithShape="1">
          <a:blip r:embed="rId3">
            <a:alphaModFix/>
          </a:blip>
          <a:srcRect b="0" l="0" r="0" t="0"/>
          <a:stretch/>
        </p:blipFill>
        <p:spPr>
          <a:xfrm>
            <a:off x="923026" y="556404"/>
            <a:ext cx="7701233" cy="385061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1028700" y="514350"/>
            <a:ext cx="7200900" cy="4044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MACHINE LEARNING</a:t>
            </a:r>
            <a:endParaRPr b="1" sz="1200">
              <a:latin typeface="Times New Roman"/>
              <a:ea typeface="Times New Roman"/>
              <a:cs typeface="Times New Roman"/>
              <a:sym typeface="Times New Roman"/>
            </a:endParaRPr>
          </a:p>
        </p:txBody>
      </p:sp>
      <p:sp>
        <p:nvSpPr>
          <p:cNvPr id="161" name="Google Shape;161;p31"/>
          <p:cNvSpPr txBox="1"/>
          <p:nvPr>
            <p:ph idx="1" type="body"/>
          </p:nvPr>
        </p:nvSpPr>
        <p:spPr>
          <a:xfrm>
            <a:off x="1028700" y="918714"/>
            <a:ext cx="7200900" cy="404400"/>
          </a:xfrm>
          <a:prstGeom prst="rect">
            <a:avLst/>
          </a:prstGeom>
          <a:noFill/>
          <a:ln>
            <a:noFill/>
          </a:ln>
        </p:spPr>
        <p:txBody>
          <a:bodyPr anchorCtr="0" anchor="t" bIns="34275" lIns="68575" spcFirstLastPara="1" rIns="68575" wrap="square" tIns="34275">
            <a:normAutofit fontScale="47500" lnSpcReduction="10000"/>
          </a:bodyPr>
          <a:lstStyle/>
          <a:p>
            <a:pPr indent="0" lvl="0" marL="0" rtl="0" algn="l">
              <a:lnSpc>
                <a:spcPct val="94000"/>
              </a:lnSpc>
              <a:spcBef>
                <a:spcPts val="0"/>
              </a:spcBef>
              <a:spcAft>
                <a:spcPts val="0"/>
              </a:spcAft>
              <a:buClr>
                <a:schemeClr val="dk2"/>
              </a:buClr>
              <a:buSzPct val="83333"/>
              <a:buNone/>
            </a:pPr>
            <a:r>
              <a:rPr lang="en"/>
              <a:t>	</a:t>
            </a:r>
            <a:r>
              <a:rPr lang="en" sz="1200">
                <a:latin typeface="Times New Roman"/>
                <a:ea typeface="Times New Roman"/>
                <a:cs typeface="Times New Roman"/>
                <a:sym typeface="Times New Roman"/>
              </a:rPr>
              <a:t>ML is a concept where the Machine learns itself from the data with the help of algorithms.</a:t>
            </a:r>
            <a:endParaRPr/>
          </a:p>
          <a:p>
            <a:pPr indent="0" lvl="0" marL="0" rtl="0" algn="l">
              <a:lnSpc>
                <a:spcPct val="94000"/>
              </a:lnSpc>
              <a:spcBef>
                <a:spcPts val="900"/>
              </a:spcBef>
              <a:spcAft>
                <a:spcPts val="0"/>
              </a:spcAft>
              <a:buClr>
                <a:schemeClr val="dk2"/>
              </a:buClr>
              <a:buSzPct val="83333"/>
              <a:buNone/>
            </a:pPr>
            <a:r>
              <a:t/>
            </a:r>
            <a:endParaRPr/>
          </a:p>
        </p:txBody>
      </p:sp>
      <p:sp>
        <p:nvSpPr>
          <p:cNvPr id="162" name="Google Shape;162;p31"/>
          <p:cNvSpPr txBox="1"/>
          <p:nvPr/>
        </p:nvSpPr>
        <p:spPr>
          <a:xfrm>
            <a:off x="1028700" y="1500996"/>
            <a:ext cx="7315200" cy="404400"/>
          </a:xfrm>
          <a:prstGeom prst="rect">
            <a:avLst/>
          </a:prstGeom>
          <a:noFill/>
          <a:ln>
            <a:noFill/>
          </a:ln>
        </p:spPr>
        <p:txBody>
          <a:bodyPr anchorCtr="0" anchor="t" bIns="34275" lIns="68575" spcFirstLastPara="1" rIns="68575" wrap="square" tIns="34275">
            <a:normAutofit/>
          </a:bodyPr>
          <a:lstStyle/>
          <a:p>
            <a:pPr indent="0" lvl="0" marL="0" marR="0" rtl="0" algn="l">
              <a:lnSpc>
                <a:spcPct val="89000"/>
              </a:lnSpc>
              <a:spcBef>
                <a:spcPts val="0"/>
              </a:spcBef>
              <a:spcAft>
                <a:spcPts val="0"/>
              </a:spcAft>
              <a:buClr>
                <a:schemeClr val="dk2"/>
              </a:buClr>
              <a:buSzPts val="1200"/>
              <a:buFont typeface="Times New Roman"/>
              <a:buNone/>
            </a:pPr>
            <a:r>
              <a:rPr b="1" i="0" lang="en" sz="1200" u="none" cap="none" strike="noStrike">
                <a:solidFill>
                  <a:schemeClr val="dk2"/>
                </a:solidFill>
                <a:latin typeface="Times New Roman"/>
                <a:ea typeface="Times New Roman"/>
                <a:cs typeface="Times New Roman"/>
                <a:sym typeface="Times New Roman"/>
              </a:rPr>
              <a:t>TYPES</a:t>
            </a:r>
            <a:endParaRPr b="0" i="0" sz="1100" u="none" cap="none" strike="noStrike">
              <a:solidFill>
                <a:srgbClr val="000000"/>
              </a:solidFill>
              <a:latin typeface="Arial"/>
              <a:ea typeface="Arial"/>
              <a:cs typeface="Arial"/>
              <a:sym typeface="Arial"/>
            </a:endParaRPr>
          </a:p>
          <a:p>
            <a:pPr indent="0" lvl="0" marL="0" marR="0" rtl="0" algn="l">
              <a:lnSpc>
                <a:spcPct val="89000"/>
              </a:lnSpc>
              <a:spcBef>
                <a:spcPts val="0"/>
              </a:spcBef>
              <a:spcAft>
                <a:spcPts val="0"/>
              </a:spcAft>
              <a:buClr>
                <a:schemeClr val="dk2"/>
              </a:buClr>
              <a:buSzPts val="1200"/>
              <a:buFont typeface="Libre Franklin"/>
              <a:buNone/>
            </a:pPr>
            <a:r>
              <a:t/>
            </a:r>
            <a:endParaRPr b="1" i="0" sz="1200" u="none" cap="none" strike="noStrike">
              <a:solidFill>
                <a:schemeClr val="dk2"/>
              </a:solidFill>
              <a:latin typeface="Times New Roman"/>
              <a:ea typeface="Times New Roman"/>
              <a:cs typeface="Times New Roman"/>
              <a:sym typeface="Times New Roman"/>
            </a:endParaRPr>
          </a:p>
        </p:txBody>
      </p:sp>
      <p:pic>
        <p:nvPicPr>
          <p:cNvPr descr="Types of Machine Learning Algorithms" id="163" name="Google Shape;163;p31"/>
          <p:cNvPicPr preferRelativeResize="0"/>
          <p:nvPr/>
        </p:nvPicPr>
        <p:blipFill rotWithShape="1">
          <a:blip r:embed="rId3">
            <a:alphaModFix/>
          </a:blip>
          <a:srcRect b="0" l="0" r="0" t="0"/>
          <a:stretch/>
        </p:blipFill>
        <p:spPr>
          <a:xfrm>
            <a:off x="2052346" y="1788902"/>
            <a:ext cx="5743777" cy="3086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1028700" y="514350"/>
            <a:ext cx="7200900" cy="2814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SUPERVISED LEARNING:</a:t>
            </a:r>
            <a:endParaRPr/>
          </a:p>
        </p:txBody>
      </p:sp>
      <p:sp>
        <p:nvSpPr>
          <p:cNvPr id="169" name="Google Shape;169;p32"/>
          <p:cNvSpPr txBox="1"/>
          <p:nvPr>
            <p:ph idx="1" type="body"/>
          </p:nvPr>
        </p:nvSpPr>
        <p:spPr>
          <a:xfrm>
            <a:off x="1028700" y="944593"/>
            <a:ext cx="7200900" cy="34560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4000"/>
              </a:lnSpc>
              <a:spcBef>
                <a:spcPts val="0"/>
              </a:spcBef>
              <a:spcAft>
                <a:spcPts val="0"/>
              </a:spcAft>
              <a:buClr>
                <a:schemeClr val="dk2"/>
              </a:buClr>
              <a:buSzPts val="1200"/>
              <a:buNone/>
            </a:pPr>
            <a:r>
              <a:rPr b="1" lang="en" sz="1200">
                <a:latin typeface="Times New Roman"/>
                <a:ea typeface="Times New Roman"/>
                <a:cs typeface="Times New Roman"/>
                <a:sym typeface="Times New Roman"/>
              </a:rPr>
              <a:t>Definition</a:t>
            </a:r>
            <a:r>
              <a:rPr lang="en" sz="1200">
                <a:latin typeface="Times New Roman"/>
                <a:ea typeface="Times New Roman"/>
                <a:cs typeface="Times New Roman"/>
                <a:sym typeface="Times New Roman"/>
              </a:rPr>
              <a:t>: A type of machine learning where the model is trained on labeled data. This means that each training example is paired with an output label.</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Goal</a:t>
            </a:r>
            <a:r>
              <a:rPr lang="en" sz="1200">
                <a:latin typeface="Times New Roman"/>
                <a:ea typeface="Times New Roman"/>
                <a:cs typeface="Times New Roman"/>
                <a:sym typeface="Times New Roman"/>
              </a:rPr>
              <a:t>: To learn a mapping from inputs to outputs, enabling the model to predict the label for new, unseen data.</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Data</a:t>
            </a:r>
            <a:r>
              <a:rPr lang="en" sz="1200">
                <a:latin typeface="Times New Roman"/>
                <a:ea typeface="Times New Roman"/>
                <a:cs typeface="Times New Roman"/>
                <a:sym typeface="Times New Roman"/>
              </a:rPr>
              <a:t>: Labeled data (each input comes with a corresponding correct output).</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Common Algorithms</a:t>
            </a:r>
            <a:r>
              <a:rPr lang="en" sz="1200">
                <a:latin typeface="Times New Roman"/>
                <a:ea typeface="Times New Roman"/>
                <a:cs typeface="Times New Roman"/>
                <a:sym typeface="Times New Roman"/>
              </a:rPr>
              <a:t>:</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Classification</a:t>
            </a:r>
            <a:r>
              <a:rPr lang="en" sz="1200">
                <a:latin typeface="Times New Roman"/>
                <a:ea typeface="Times New Roman"/>
                <a:cs typeface="Times New Roman"/>
                <a:sym typeface="Times New Roman"/>
              </a:rPr>
              <a:t>: Logistic Regression, Support Vector Machines (SVM), Decision Trees, Random Forest, Neural Networks.</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Regression</a:t>
            </a:r>
            <a:r>
              <a:rPr lang="en" sz="1200">
                <a:latin typeface="Times New Roman"/>
                <a:ea typeface="Times New Roman"/>
                <a:cs typeface="Times New Roman"/>
                <a:sym typeface="Times New Roman"/>
              </a:rPr>
              <a:t>: Linear Regression, Ridge Regression, Lasso Regression, Support Vector Regression (SVR).</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Examples</a:t>
            </a:r>
            <a:r>
              <a:rPr lang="en" sz="1200">
                <a:latin typeface="Times New Roman"/>
                <a:ea typeface="Times New Roman"/>
                <a:cs typeface="Times New Roman"/>
                <a:sym typeface="Times New Roman"/>
              </a:rPr>
              <a:t>:</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Classification</a:t>
            </a:r>
            <a:r>
              <a:rPr lang="en" sz="1200">
                <a:latin typeface="Times New Roman"/>
                <a:ea typeface="Times New Roman"/>
                <a:cs typeface="Times New Roman"/>
                <a:sym typeface="Times New Roman"/>
              </a:rPr>
              <a:t>: Email spam detection (spam vs. not spam), image recognition (cat vs. dog).</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Regression</a:t>
            </a:r>
            <a:r>
              <a:rPr lang="en" sz="1200">
                <a:latin typeface="Times New Roman"/>
                <a:ea typeface="Times New Roman"/>
                <a:cs typeface="Times New Roman"/>
                <a:sym typeface="Times New Roman"/>
              </a:rPr>
              <a:t>: Predicting house prices based on features like size, location, and number of bedrooms.Key </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Advantage</a:t>
            </a:r>
            <a:r>
              <a:rPr lang="en" sz="1200">
                <a:latin typeface="Times New Roman"/>
                <a:ea typeface="Times New Roman"/>
                <a:cs typeface="Times New Roman"/>
                <a:sym typeface="Times New Roman"/>
              </a:rPr>
              <a:t>: The model learns from clear examples, which typically results in higher accuracy for well-defined tasks.</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Key Challenge</a:t>
            </a:r>
            <a:r>
              <a:rPr lang="en" sz="1200">
                <a:latin typeface="Times New Roman"/>
                <a:ea typeface="Times New Roman"/>
                <a:cs typeface="Times New Roman"/>
                <a:sym typeface="Times New Roman"/>
              </a:rPr>
              <a:t>: Requires a large amount of labeled data, which can be time-consuming and expensive to obtain.</a:t>
            </a:r>
            <a:endParaRPr sz="12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1028700" y="514350"/>
            <a:ext cx="7200900" cy="3009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SUPERVISED MACHINE LEARNING</a:t>
            </a:r>
            <a:endParaRPr b="1" sz="1200">
              <a:latin typeface="Times New Roman"/>
              <a:ea typeface="Times New Roman"/>
              <a:cs typeface="Times New Roman"/>
              <a:sym typeface="Times New Roman"/>
            </a:endParaRPr>
          </a:p>
        </p:txBody>
      </p:sp>
      <p:sp>
        <p:nvSpPr>
          <p:cNvPr id="175" name="Google Shape;175;p33"/>
          <p:cNvSpPr txBox="1"/>
          <p:nvPr>
            <p:ph idx="1" type="body"/>
          </p:nvPr>
        </p:nvSpPr>
        <p:spPr>
          <a:xfrm>
            <a:off x="1028700" y="815196"/>
            <a:ext cx="7200900" cy="40242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In supervised learning, the machine is trained on a set of labeled data, which means that the input data is paired with the desired output. The machine then learns to predict the output for new input data. Supervised learning is often used for tasks such as classification, regression, and object detection.</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Supervised learning, as the name indicates, has the presence of a supervisor as a teacher. Supervised learning is when we teach or train the machine using data that is well-labelled. Which means some data is already tagged with the correct answer. After that, the machine is provided with a new set of examples(data) so that the supervised learning algorithm analyses the training data(set of training examples) and produces a correct outcome from labeled data.</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For example, a labeled dataset of images of Elephant, Camel and Cow would have each image tagged with either “Elephant” , “Camel”or “Cow.”</a:t>
            </a:r>
            <a:endParaRPr/>
          </a:p>
          <a:p>
            <a:pPr indent="0" lvl="0" marL="0" rtl="0" algn="just">
              <a:lnSpc>
                <a:spcPct val="150000"/>
              </a:lnSpc>
              <a:spcBef>
                <a:spcPts val="900"/>
              </a:spcBef>
              <a:spcAft>
                <a:spcPts val="0"/>
              </a:spcAft>
              <a:buClr>
                <a:schemeClr val="dk2"/>
              </a:buClr>
              <a:buSzPts val="1200"/>
              <a:buNone/>
            </a:pPr>
            <a:r>
              <a:t/>
            </a:r>
            <a:endParaRPr sz="12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4"/>
          <p:cNvPicPr preferRelativeResize="0"/>
          <p:nvPr/>
        </p:nvPicPr>
        <p:blipFill rotWithShape="1">
          <a:blip r:embed="rId3">
            <a:alphaModFix/>
          </a:blip>
          <a:srcRect b="0" l="0" r="0" t="0"/>
          <a:stretch/>
        </p:blipFill>
        <p:spPr>
          <a:xfrm>
            <a:off x="1038328" y="315148"/>
            <a:ext cx="7067345" cy="43689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ph type="title"/>
          </p:nvPr>
        </p:nvSpPr>
        <p:spPr>
          <a:xfrm>
            <a:off x="1028700" y="514350"/>
            <a:ext cx="7200900" cy="3075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TYPES OF SUPERVISED LEARNING</a:t>
            </a:r>
            <a:endParaRPr b="1" sz="1200">
              <a:latin typeface="Times New Roman"/>
              <a:ea typeface="Times New Roman"/>
              <a:cs typeface="Times New Roman"/>
              <a:sym typeface="Times New Roman"/>
            </a:endParaRPr>
          </a:p>
        </p:txBody>
      </p:sp>
      <p:sp>
        <p:nvSpPr>
          <p:cNvPr id="186" name="Google Shape;186;p35"/>
          <p:cNvSpPr txBox="1"/>
          <p:nvPr>
            <p:ph idx="1" type="body"/>
          </p:nvPr>
        </p:nvSpPr>
        <p:spPr>
          <a:xfrm>
            <a:off x="1028700" y="821666"/>
            <a:ext cx="7200900" cy="40242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4000"/>
              </a:lnSpc>
              <a:spcBef>
                <a:spcPts val="0"/>
              </a:spcBef>
              <a:spcAft>
                <a:spcPts val="0"/>
              </a:spcAft>
              <a:buClr>
                <a:schemeClr val="dk2"/>
              </a:buClr>
              <a:buSzPts val="1200"/>
              <a:buNone/>
            </a:pPr>
            <a:r>
              <a:rPr lang="en" sz="1200">
                <a:latin typeface="Times New Roman"/>
                <a:ea typeface="Times New Roman"/>
                <a:cs typeface="Times New Roman"/>
                <a:sym typeface="Times New Roman"/>
              </a:rPr>
              <a:t>Supervised learning is classified into </a:t>
            </a:r>
            <a:r>
              <a:rPr b="1" lang="en" sz="1200">
                <a:latin typeface="Times New Roman"/>
                <a:ea typeface="Times New Roman"/>
                <a:cs typeface="Times New Roman"/>
                <a:sym typeface="Times New Roman"/>
              </a:rPr>
              <a:t>two</a:t>
            </a:r>
            <a:r>
              <a:rPr lang="en" sz="1200">
                <a:latin typeface="Times New Roman"/>
                <a:ea typeface="Times New Roman"/>
                <a:cs typeface="Times New Roman"/>
                <a:sym typeface="Times New Roman"/>
              </a:rPr>
              <a:t> categories of algorithms: </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u="sng">
                <a:latin typeface="Times New Roman"/>
                <a:ea typeface="Times New Roman"/>
                <a:cs typeface="Times New Roman"/>
                <a:sym typeface="Times New Roman"/>
              </a:rPr>
              <a:t>Regression</a:t>
            </a:r>
            <a:r>
              <a:rPr lang="en" sz="1200">
                <a:latin typeface="Times New Roman"/>
                <a:ea typeface="Times New Roman"/>
                <a:cs typeface="Times New Roman"/>
                <a:sym typeface="Times New Roman"/>
              </a:rPr>
              <a:t>: A regression problem is when the output variable is a real value, such as “dollars” or “weight”.</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u="sng">
                <a:latin typeface="Times New Roman"/>
                <a:ea typeface="Times New Roman"/>
                <a:cs typeface="Times New Roman"/>
                <a:sym typeface="Times New Roman"/>
              </a:rPr>
              <a:t>Classification</a:t>
            </a:r>
            <a:r>
              <a:rPr lang="en" sz="1200">
                <a:latin typeface="Times New Roman"/>
                <a:ea typeface="Times New Roman"/>
                <a:cs typeface="Times New Roman"/>
                <a:sym typeface="Times New Roman"/>
              </a:rPr>
              <a:t>: A classification problem is when the output variable is a category, such as “Red” or “blue” , “disease” or “no disease”.</a:t>
            </a:r>
            <a:endParaRPr/>
          </a:p>
          <a:p>
            <a:pPr indent="-292100" lvl="0" marL="292100" rtl="0" algn="l">
              <a:lnSpc>
                <a:spcPct val="94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Supervised learning deals with or learns with “labeled” data. This implies that some data is already tagged with the correct answer.</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Regression</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Regression is a type of supervised learning that is used to predict continuous values, such as house prices, stock prices, or customer churn. Regression algorithms learn a function that maps from the input features to the output value.</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Some common regression algorithms include:</a:t>
            </a:r>
            <a:endParaRPr/>
          </a:p>
          <a:p>
            <a:pPr indent="-292100" lvl="1" marL="685800" rtl="0" algn="l">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Linear Regression</a:t>
            </a:r>
            <a:endParaRPr/>
          </a:p>
          <a:p>
            <a:pPr indent="-292100" lvl="1" marL="685800" rtl="0" algn="l">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Polynomial Regression</a:t>
            </a:r>
            <a:endParaRPr/>
          </a:p>
          <a:p>
            <a:pPr indent="-292100" lvl="1" marL="685800" rtl="0" algn="l">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Support Vector Machine Regression</a:t>
            </a:r>
            <a:endParaRPr/>
          </a:p>
          <a:p>
            <a:pPr indent="-292100" lvl="1" marL="685800" rtl="0" algn="l">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Decision Tree Regression</a:t>
            </a:r>
            <a:endParaRPr/>
          </a:p>
          <a:p>
            <a:pPr indent="-292100" lvl="1" marL="685800" rtl="0" algn="l">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Random Forest Regression</a:t>
            </a:r>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idx="1" type="body"/>
          </p:nvPr>
        </p:nvSpPr>
        <p:spPr>
          <a:xfrm>
            <a:off x="1028700" y="342900"/>
            <a:ext cx="7200900" cy="2633100"/>
          </a:xfrm>
          <a:prstGeom prst="rect">
            <a:avLst/>
          </a:prstGeom>
          <a:noFill/>
          <a:ln>
            <a:noFill/>
          </a:ln>
        </p:spPr>
        <p:txBody>
          <a:bodyPr anchorCtr="0" anchor="t" bIns="34275" lIns="68575" spcFirstLastPara="1" rIns="68575" wrap="square" tIns="34275">
            <a:normAutofit/>
          </a:bodyPr>
          <a:lstStyle/>
          <a:p>
            <a:pPr indent="0" lvl="0" marL="0" rtl="0" algn="l">
              <a:lnSpc>
                <a:spcPct val="94000"/>
              </a:lnSpc>
              <a:spcBef>
                <a:spcPts val="0"/>
              </a:spcBef>
              <a:spcAft>
                <a:spcPts val="0"/>
              </a:spcAft>
              <a:buClr>
                <a:schemeClr val="dk2"/>
              </a:buClr>
              <a:buSzPts val="1200"/>
              <a:buNone/>
            </a:pPr>
            <a:r>
              <a:rPr b="1" lang="en" sz="1200">
                <a:latin typeface="Times New Roman"/>
                <a:ea typeface="Times New Roman"/>
                <a:cs typeface="Times New Roman"/>
                <a:sym typeface="Times New Roman"/>
              </a:rPr>
              <a:t>CLASSIFICATION</a:t>
            </a:r>
            <a:endParaRPr/>
          </a:p>
          <a:p>
            <a:pPr indent="0" lvl="0" marL="0" rtl="0" algn="just">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Classification is a type of supervised learning that is used to predict categorical values, such as whether a customer will churn or not, whether an email is spam or not, or whether a medical image shows a tumor or not. Classification algorithms learn a function that maps from the input features to a probability distribution over the output classes.</a:t>
            </a:r>
            <a:endParaRPr/>
          </a:p>
          <a:p>
            <a:pPr indent="0" lvl="0" marL="0" rtl="0" algn="just">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Some common classification algorithms include:</a:t>
            </a:r>
            <a:endParaRPr/>
          </a:p>
          <a:p>
            <a:pPr indent="-292100" lvl="1" marL="685800" rtl="0" algn="just">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Logistic Regression</a:t>
            </a:r>
            <a:endParaRPr/>
          </a:p>
          <a:p>
            <a:pPr indent="-292100" lvl="1" marL="685800" rtl="0" algn="just">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Support Vector Machines</a:t>
            </a:r>
            <a:endParaRPr/>
          </a:p>
          <a:p>
            <a:pPr indent="-292100" lvl="1" marL="685800" rtl="0" algn="just">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Decision Trees</a:t>
            </a:r>
            <a:endParaRPr/>
          </a:p>
          <a:p>
            <a:pPr indent="-292100" lvl="1" marL="685800" rtl="0" algn="just">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Random Forests</a:t>
            </a:r>
            <a:endParaRPr/>
          </a:p>
          <a:p>
            <a:pPr indent="-292100" lvl="1" marL="685800" rtl="0" algn="just">
              <a:lnSpc>
                <a:spcPct val="94000"/>
              </a:lnSpc>
              <a:spcBef>
                <a:spcPts val="5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Naive Bayes</a:t>
            </a:r>
            <a:endParaRPr/>
          </a:p>
        </p:txBody>
      </p:sp>
      <p:sp>
        <p:nvSpPr>
          <p:cNvPr id="192" name="Google Shape;192;p36"/>
          <p:cNvSpPr txBox="1"/>
          <p:nvPr/>
        </p:nvSpPr>
        <p:spPr>
          <a:xfrm>
            <a:off x="1028700" y="2976113"/>
            <a:ext cx="7200900" cy="1462200"/>
          </a:xfrm>
          <a:prstGeom prst="rect">
            <a:avLst/>
          </a:prstGeom>
          <a:noFill/>
          <a:ln>
            <a:noFill/>
          </a:ln>
        </p:spPr>
        <p:txBody>
          <a:bodyPr anchorCtr="0" anchor="t" bIns="34275" lIns="68575" spcFirstLastPara="1" rIns="68575" wrap="square" tIns="34275">
            <a:normAutofit/>
          </a:bodyPr>
          <a:lstStyle/>
          <a:p>
            <a:pPr indent="0" lvl="0" marL="0" marR="0" rtl="0" algn="l">
              <a:lnSpc>
                <a:spcPct val="94000"/>
              </a:lnSpc>
              <a:spcBef>
                <a:spcPts val="0"/>
              </a:spcBef>
              <a:spcAft>
                <a:spcPts val="0"/>
              </a:spcAft>
              <a:buClr>
                <a:schemeClr val="dk2"/>
              </a:buClr>
              <a:buSzPts val="1200"/>
              <a:buFont typeface="Libre Franklin"/>
              <a:buNone/>
            </a:pPr>
            <a:r>
              <a:rPr b="1" i="0" lang="en" sz="1200" u="none" cap="none" strike="noStrike">
                <a:solidFill>
                  <a:schemeClr val="dk2"/>
                </a:solidFill>
                <a:latin typeface="Times New Roman"/>
                <a:ea typeface="Times New Roman"/>
                <a:cs typeface="Times New Roman"/>
                <a:sym typeface="Times New Roman"/>
              </a:rPr>
              <a:t>Evaluating Supervised Learning Models</a:t>
            </a:r>
            <a:endParaRPr b="0" i="0" sz="1100" u="none" cap="none" strike="noStrike">
              <a:solidFill>
                <a:srgbClr val="000000"/>
              </a:solidFill>
              <a:latin typeface="Arial"/>
              <a:ea typeface="Arial"/>
              <a:cs typeface="Arial"/>
              <a:sym typeface="Arial"/>
            </a:endParaRPr>
          </a:p>
          <a:p>
            <a:pPr indent="0" lvl="0" marL="0" marR="0" rtl="0" algn="l">
              <a:lnSpc>
                <a:spcPct val="94000"/>
              </a:lnSpc>
              <a:spcBef>
                <a:spcPts val="900"/>
              </a:spcBef>
              <a:spcAft>
                <a:spcPts val="0"/>
              </a:spcAft>
              <a:buClr>
                <a:schemeClr val="dk2"/>
              </a:buClr>
              <a:buSzPts val="1200"/>
              <a:buFont typeface="Libre Franklin"/>
              <a:buNone/>
            </a:pPr>
            <a:r>
              <a:rPr b="0" i="0" lang="en" sz="1200" u="none" cap="none" strike="noStrike">
                <a:solidFill>
                  <a:schemeClr val="dk2"/>
                </a:solidFill>
                <a:latin typeface="Times New Roman"/>
                <a:ea typeface="Times New Roman"/>
                <a:cs typeface="Times New Roman"/>
                <a:sym typeface="Times New Roman"/>
              </a:rPr>
              <a:t>Evaluating supervised learning models is an important step in ensuring that the model is accurate and generalizable. There are a number of different metrics that can be used to evaluate supervised learning models, but some of the most common ones include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idx="1" type="body"/>
          </p:nvPr>
        </p:nvSpPr>
        <p:spPr>
          <a:xfrm>
            <a:off x="1062990" y="171450"/>
            <a:ext cx="7200900" cy="4109100"/>
          </a:xfrm>
          <a:prstGeom prst="rect">
            <a:avLst/>
          </a:prstGeom>
          <a:noFill/>
          <a:ln>
            <a:noFill/>
          </a:ln>
        </p:spPr>
        <p:txBody>
          <a:bodyPr anchorCtr="0" anchor="t" bIns="34275" lIns="68575" spcFirstLastPara="1" rIns="68575" wrap="square" tIns="34275">
            <a:normAutofit/>
          </a:bodyPr>
          <a:lstStyle/>
          <a:p>
            <a:pPr indent="0" lvl="0" marL="0" rtl="0" algn="just">
              <a:lnSpc>
                <a:spcPct val="94000"/>
              </a:lnSpc>
              <a:spcBef>
                <a:spcPts val="0"/>
              </a:spcBef>
              <a:spcAft>
                <a:spcPts val="0"/>
              </a:spcAft>
              <a:buClr>
                <a:schemeClr val="dk2"/>
              </a:buClr>
              <a:buSzPts val="1200"/>
              <a:buNone/>
            </a:pPr>
            <a:r>
              <a:rPr lang="en" sz="1200">
                <a:latin typeface="Times New Roman"/>
                <a:ea typeface="Times New Roman"/>
                <a:cs typeface="Times New Roman"/>
                <a:sym typeface="Times New Roman"/>
              </a:rPr>
              <a:t>There are two main classification types in machine learning:</a:t>
            </a:r>
            <a:endParaRPr/>
          </a:p>
          <a:p>
            <a:pPr indent="0" lvl="0" marL="0" rtl="0" algn="just">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Binary Classification</a:t>
            </a:r>
            <a:endParaRPr/>
          </a:p>
          <a:p>
            <a:pPr indent="-292100" lvl="0" marL="292100" rtl="0" algn="just">
              <a:lnSpc>
                <a:spcPct val="94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In binary classification, the goal is to classify the input into one of two classes or categories. Example – On the basis of the given health conditions of a person, we have to determine whether the person has a certain disease or not.</a:t>
            </a:r>
            <a:endParaRPr/>
          </a:p>
          <a:p>
            <a:pPr indent="0" lvl="0" marL="0" rtl="0" algn="just">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Multiclass Classification</a:t>
            </a:r>
            <a:endParaRPr/>
          </a:p>
          <a:p>
            <a:pPr indent="-292100" lvl="0" marL="292100" rtl="0" algn="just">
              <a:lnSpc>
                <a:spcPct val="94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In multi-class classification, the goal is to classify the input into one of several classes or categories. For Example – On the basis of data about different species of flowers, we have to determine which specie our observation belongs to.</a:t>
            </a:r>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p:txBody>
      </p:sp>
      <p:pic>
        <p:nvPicPr>
          <p:cNvPr id="198" name="Google Shape;198;p37"/>
          <p:cNvPicPr preferRelativeResize="0"/>
          <p:nvPr/>
        </p:nvPicPr>
        <p:blipFill rotWithShape="1">
          <a:blip r:embed="rId3">
            <a:alphaModFix/>
          </a:blip>
          <a:srcRect b="0" l="0" r="0" t="0"/>
          <a:stretch/>
        </p:blipFill>
        <p:spPr>
          <a:xfrm>
            <a:off x="1948815" y="2225993"/>
            <a:ext cx="5554980" cy="21786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1028700" y="514350"/>
            <a:ext cx="7200900" cy="3591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REGRESSION</a:t>
            </a:r>
            <a:endParaRPr b="1" sz="1200">
              <a:latin typeface="Times New Roman"/>
              <a:ea typeface="Times New Roman"/>
              <a:cs typeface="Times New Roman"/>
              <a:sym typeface="Times New Roman"/>
            </a:endParaRPr>
          </a:p>
        </p:txBody>
      </p:sp>
      <p:sp>
        <p:nvSpPr>
          <p:cNvPr id="204" name="Google Shape;204;p38"/>
          <p:cNvSpPr txBox="1"/>
          <p:nvPr>
            <p:ph idx="1" type="body"/>
          </p:nvPr>
        </p:nvSpPr>
        <p:spPr>
          <a:xfrm>
            <a:off x="1028700" y="789317"/>
            <a:ext cx="7200900" cy="36111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Regression is a statistical approach used to analyze the relationship between a dependent variable (target variable) and one or more independent variables (predictor variables). The objective is to determine the most suitable function that characterizes the connection between these variables.</a:t>
            </a:r>
            <a:endParaRPr/>
          </a:p>
          <a:p>
            <a:pPr indent="0" lvl="0" marL="0" rtl="0" algn="just">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Regression in Machine Learning</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It is a supervised machine learning technique, used to predict the value of the dependent variable for new, unseen data. It models the relationship between the input features and the target variable, allowing for the estimation or prediction of numerical values.</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Regression analysis problem works with if output variable is a real or continuous value, such as “salary” or “weight”. Many different models can be used, the simplest is the linear regression. It tries to fit data with the best hyper-plane which goes through the points.</a:t>
            </a:r>
            <a:endParaRPr sz="12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9"/>
          <p:cNvPicPr preferRelativeResize="0"/>
          <p:nvPr/>
        </p:nvPicPr>
        <p:blipFill rotWithShape="1">
          <a:blip r:embed="rId3">
            <a:alphaModFix/>
          </a:blip>
          <a:srcRect b="0" l="0" r="0" t="0"/>
          <a:stretch/>
        </p:blipFill>
        <p:spPr>
          <a:xfrm>
            <a:off x="986645" y="369790"/>
            <a:ext cx="7378819" cy="415058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0"/>
          <p:cNvSpPr txBox="1"/>
          <p:nvPr>
            <p:ph type="title"/>
          </p:nvPr>
        </p:nvSpPr>
        <p:spPr>
          <a:xfrm>
            <a:off x="1028700" y="514350"/>
            <a:ext cx="7200900" cy="4434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Terminologies Related to the Regression Analysis in Machine Learning</a:t>
            </a:r>
            <a:endParaRPr b="1" sz="1200">
              <a:latin typeface="Times New Roman"/>
              <a:ea typeface="Times New Roman"/>
              <a:cs typeface="Times New Roman"/>
              <a:sym typeface="Times New Roman"/>
            </a:endParaRPr>
          </a:p>
        </p:txBody>
      </p:sp>
      <p:sp>
        <p:nvSpPr>
          <p:cNvPr id="215" name="Google Shape;215;p40"/>
          <p:cNvSpPr txBox="1"/>
          <p:nvPr>
            <p:ph idx="1" type="body"/>
          </p:nvPr>
        </p:nvSpPr>
        <p:spPr>
          <a:xfrm>
            <a:off x="1028700" y="821666"/>
            <a:ext cx="7200900" cy="35790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Char char="■"/>
            </a:pPr>
            <a:r>
              <a:rPr b="1" lang="en" sz="1200">
                <a:latin typeface="Times New Roman"/>
                <a:ea typeface="Times New Roman"/>
                <a:cs typeface="Times New Roman"/>
                <a:sym typeface="Times New Roman"/>
              </a:rPr>
              <a:t>Response Variable</a:t>
            </a:r>
            <a:r>
              <a:rPr lang="en" sz="1200">
                <a:latin typeface="Times New Roman"/>
                <a:ea typeface="Times New Roman"/>
                <a:cs typeface="Times New Roman"/>
                <a:sym typeface="Times New Roman"/>
              </a:rPr>
              <a:t>: The primary factor to predict or understand in regression, also known as the dependent variable or target variable.</a:t>
            </a:r>
            <a:endParaRPr/>
          </a:p>
          <a:p>
            <a:pPr indent="-292100" lvl="0" marL="292100" rtl="0" algn="just">
              <a:lnSpc>
                <a:spcPct val="150000"/>
              </a:lnSpc>
              <a:spcBef>
                <a:spcPts val="900"/>
              </a:spcBef>
              <a:spcAft>
                <a:spcPts val="0"/>
              </a:spcAft>
              <a:buClr>
                <a:schemeClr val="dk2"/>
              </a:buClr>
              <a:buSzPts val="1200"/>
              <a:buChar char="■"/>
            </a:pP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Predictor Variable</a:t>
            </a:r>
            <a:r>
              <a:rPr lang="en" sz="1200">
                <a:latin typeface="Times New Roman"/>
                <a:ea typeface="Times New Roman"/>
                <a:cs typeface="Times New Roman"/>
                <a:sym typeface="Times New Roman"/>
              </a:rPr>
              <a:t>: Factors influencing the response variable, used to predict its values; also called independent variables.</a:t>
            </a:r>
            <a:endParaRPr/>
          </a:p>
          <a:p>
            <a:pPr indent="-292100" lvl="0" marL="292100" rtl="0" algn="just">
              <a:lnSpc>
                <a:spcPct val="150000"/>
              </a:lnSpc>
              <a:spcBef>
                <a:spcPts val="900"/>
              </a:spcBef>
              <a:spcAft>
                <a:spcPts val="0"/>
              </a:spcAft>
              <a:buClr>
                <a:schemeClr val="dk2"/>
              </a:buClr>
              <a:buSzPts val="1200"/>
              <a:buChar char="■"/>
            </a:pPr>
            <a:r>
              <a:rPr b="1" lang="en" sz="1200">
                <a:latin typeface="Times New Roman"/>
                <a:ea typeface="Times New Roman"/>
                <a:cs typeface="Times New Roman"/>
                <a:sym typeface="Times New Roman"/>
              </a:rPr>
              <a:t>Outliers</a:t>
            </a:r>
            <a:r>
              <a:rPr lang="en" sz="1200">
                <a:latin typeface="Times New Roman"/>
                <a:ea typeface="Times New Roman"/>
                <a:cs typeface="Times New Roman"/>
                <a:sym typeface="Times New Roman"/>
              </a:rPr>
              <a:t>: Observations with significantly low or high values compared to others, potentially impacting results and best avoided.</a:t>
            </a:r>
            <a:endParaRPr/>
          </a:p>
          <a:p>
            <a:pPr indent="-292100" lvl="0" marL="292100" rtl="0" algn="just">
              <a:lnSpc>
                <a:spcPct val="150000"/>
              </a:lnSpc>
              <a:spcBef>
                <a:spcPts val="900"/>
              </a:spcBef>
              <a:spcAft>
                <a:spcPts val="0"/>
              </a:spcAft>
              <a:buClr>
                <a:schemeClr val="dk2"/>
              </a:buClr>
              <a:buSzPts val="1200"/>
              <a:buChar char="■"/>
            </a:pPr>
            <a:r>
              <a:rPr b="1" lang="en" sz="1200">
                <a:latin typeface="Times New Roman"/>
                <a:ea typeface="Times New Roman"/>
                <a:cs typeface="Times New Roman"/>
                <a:sym typeface="Times New Roman"/>
              </a:rPr>
              <a:t>Multicollinearity</a:t>
            </a:r>
            <a:r>
              <a:rPr lang="en" sz="1200">
                <a:latin typeface="Times New Roman"/>
                <a:ea typeface="Times New Roman"/>
                <a:cs typeface="Times New Roman"/>
                <a:sym typeface="Times New Roman"/>
              </a:rPr>
              <a:t>: High correlation among independent variables, which can complicate the ranking of influential variables.</a:t>
            </a:r>
            <a:endParaRPr/>
          </a:p>
          <a:p>
            <a:pPr indent="-292100" lvl="0" marL="292100" rtl="0" algn="just">
              <a:lnSpc>
                <a:spcPct val="150000"/>
              </a:lnSpc>
              <a:spcBef>
                <a:spcPts val="900"/>
              </a:spcBef>
              <a:spcAft>
                <a:spcPts val="0"/>
              </a:spcAft>
              <a:buClr>
                <a:schemeClr val="dk2"/>
              </a:buClr>
              <a:buSzPts val="1200"/>
              <a:buChar char="■"/>
            </a:pPr>
            <a:r>
              <a:rPr b="1" lang="en" sz="1200">
                <a:latin typeface="Times New Roman"/>
                <a:ea typeface="Times New Roman"/>
                <a:cs typeface="Times New Roman"/>
                <a:sym typeface="Times New Roman"/>
              </a:rPr>
              <a:t>Underfitting and Overfitting</a:t>
            </a:r>
            <a:r>
              <a:rPr lang="en" sz="1200">
                <a:latin typeface="Times New Roman"/>
                <a:ea typeface="Times New Roman"/>
                <a:cs typeface="Times New Roman"/>
                <a:sym typeface="Times New Roman"/>
              </a:rPr>
              <a:t>: Overfitting occurs when an algorithm performs well on training but poorly on testing, while underfitting indicates poor performance on both datasets.</a:t>
            </a:r>
            <a:endParaRPr sz="12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1"/>
          <p:cNvSpPr txBox="1"/>
          <p:nvPr>
            <p:ph idx="1" type="body"/>
          </p:nvPr>
        </p:nvSpPr>
        <p:spPr>
          <a:xfrm>
            <a:off x="1028700" y="226444"/>
            <a:ext cx="7200900" cy="41742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just">
              <a:lnSpc>
                <a:spcPct val="150000"/>
              </a:lnSpc>
              <a:spcBef>
                <a:spcPts val="0"/>
              </a:spcBef>
              <a:spcAft>
                <a:spcPts val="0"/>
              </a:spcAft>
              <a:buClr>
                <a:schemeClr val="dk2"/>
              </a:buClr>
              <a:buSzPct val="100000"/>
              <a:buNone/>
            </a:pPr>
            <a:r>
              <a:rPr b="1" lang="en" sz="1200">
                <a:latin typeface="Times New Roman"/>
                <a:ea typeface="Times New Roman"/>
                <a:cs typeface="Times New Roman"/>
                <a:sym typeface="Times New Roman"/>
              </a:rPr>
              <a:t>CORRELATION</a:t>
            </a:r>
            <a:endParaRPr/>
          </a:p>
          <a:p>
            <a:pPr indent="-286385" lvl="0" marL="292100" rtl="0" algn="just">
              <a:lnSpc>
                <a:spcPct val="150000"/>
              </a:lnSpc>
              <a:spcBef>
                <a:spcPts val="900"/>
              </a:spcBef>
              <a:spcAft>
                <a:spcPts val="0"/>
              </a:spcAft>
              <a:buClr>
                <a:schemeClr val="dk2"/>
              </a:buClr>
              <a:buSzPct val="100000"/>
              <a:buFont typeface="Noto Sans Symbols"/>
              <a:buChar char="⮚"/>
            </a:pPr>
            <a:r>
              <a:rPr lang="en" sz="1200">
                <a:latin typeface="Times New Roman"/>
                <a:ea typeface="Times New Roman"/>
                <a:cs typeface="Times New Roman"/>
                <a:sym typeface="Times New Roman"/>
              </a:rPr>
              <a:t>Correlation refers to a statistical relationship between the two entities.</a:t>
            </a:r>
            <a:endParaRPr/>
          </a:p>
          <a:p>
            <a:pPr indent="-286385" lvl="0" marL="292100" rtl="0" algn="just">
              <a:lnSpc>
                <a:spcPct val="150000"/>
              </a:lnSpc>
              <a:spcBef>
                <a:spcPts val="900"/>
              </a:spcBef>
              <a:spcAft>
                <a:spcPts val="0"/>
              </a:spcAft>
              <a:buClr>
                <a:schemeClr val="dk2"/>
              </a:buClr>
              <a:buSzPct val="100000"/>
              <a:buFont typeface="Noto Sans Symbols"/>
              <a:buChar char="⮚"/>
            </a:pPr>
            <a:r>
              <a:rPr lang="en" sz="1200">
                <a:latin typeface="Times New Roman"/>
                <a:ea typeface="Times New Roman"/>
                <a:cs typeface="Times New Roman"/>
                <a:sym typeface="Times New Roman"/>
              </a:rPr>
              <a:t>It measures the extent to which the two variables are linearly related.</a:t>
            </a:r>
            <a:endParaRPr/>
          </a:p>
          <a:p>
            <a:pPr indent="-286385" lvl="0" marL="292100" rtl="0" algn="just">
              <a:lnSpc>
                <a:spcPct val="150000"/>
              </a:lnSpc>
              <a:spcBef>
                <a:spcPts val="900"/>
              </a:spcBef>
              <a:spcAft>
                <a:spcPts val="0"/>
              </a:spcAft>
              <a:buClr>
                <a:schemeClr val="dk2"/>
              </a:buClr>
              <a:buSzPct val="100000"/>
              <a:buFont typeface="Noto Sans Symbols"/>
              <a:buChar char="⮚"/>
            </a:pPr>
            <a:r>
              <a:rPr lang="en" sz="1200">
                <a:latin typeface="Times New Roman"/>
                <a:ea typeface="Times New Roman"/>
                <a:cs typeface="Times New Roman"/>
                <a:sym typeface="Times New Roman"/>
              </a:rPr>
              <a:t>The value of the correlation always lies between -1 to +1.</a:t>
            </a:r>
            <a:endParaRPr/>
          </a:p>
          <a:p>
            <a:pPr indent="0" lvl="0" marL="0" rtl="0" algn="just">
              <a:lnSpc>
                <a:spcPct val="150000"/>
              </a:lnSpc>
              <a:spcBef>
                <a:spcPts val="900"/>
              </a:spcBef>
              <a:spcAft>
                <a:spcPts val="0"/>
              </a:spcAft>
              <a:buClr>
                <a:schemeClr val="dk2"/>
              </a:buClr>
              <a:buSzPct val="100000"/>
              <a:buNone/>
            </a:pPr>
            <a:r>
              <a:rPr b="1" lang="en" sz="1200">
                <a:latin typeface="Times New Roman"/>
                <a:ea typeface="Times New Roman"/>
                <a:cs typeface="Times New Roman"/>
                <a:sym typeface="Times New Roman"/>
              </a:rPr>
              <a:t>Example:</a:t>
            </a:r>
            <a:endParaRPr/>
          </a:p>
          <a:p>
            <a:pPr indent="0" lvl="0" marL="0" rtl="0" algn="just">
              <a:lnSpc>
                <a:spcPct val="150000"/>
              </a:lnSpc>
              <a:spcBef>
                <a:spcPts val="900"/>
              </a:spcBef>
              <a:spcAft>
                <a:spcPts val="0"/>
              </a:spcAft>
              <a:buClr>
                <a:schemeClr val="dk2"/>
              </a:buClr>
              <a:buSzPct val="100000"/>
              <a:buNone/>
            </a:pPr>
            <a:r>
              <a:rPr b="1"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The price and demand of the product is in correlation, they are linearly related.</a:t>
            </a:r>
            <a:endParaRPr b="1" sz="1200">
              <a:latin typeface="Times New Roman"/>
              <a:ea typeface="Times New Roman"/>
              <a:cs typeface="Times New Roman"/>
              <a:sym typeface="Times New Roman"/>
            </a:endParaRPr>
          </a:p>
          <a:p>
            <a:pPr indent="0" lvl="0" marL="0" rtl="0" algn="just">
              <a:lnSpc>
                <a:spcPct val="150000"/>
              </a:lnSpc>
              <a:spcBef>
                <a:spcPts val="900"/>
              </a:spcBef>
              <a:spcAft>
                <a:spcPts val="0"/>
              </a:spcAft>
              <a:buClr>
                <a:schemeClr val="dk2"/>
              </a:buClr>
              <a:buSzPct val="100000"/>
              <a:buNone/>
            </a:pPr>
            <a:r>
              <a:rPr b="1" lang="en" sz="1200">
                <a:latin typeface="Times New Roman"/>
                <a:ea typeface="Times New Roman"/>
                <a:cs typeface="Times New Roman"/>
                <a:sym typeface="Times New Roman"/>
              </a:rPr>
              <a:t>	1. Positive Correlation</a:t>
            </a:r>
            <a:endParaRPr/>
          </a:p>
          <a:p>
            <a:pPr indent="0" lvl="0" marL="0" rtl="0" algn="just">
              <a:lnSpc>
                <a:spcPct val="150000"/>
              </a:lnSpc>
              <a:spcBef>
                <a:spcPts val="900"/>
              </a:spcBef>
              <a:spcAft>
                <a:spcPts val="0"/>
              </a:spcAft>
              <a:buClr>
                <a:schemeClr val="dk2"/>
              </a:buClr>
              <a:buSzPct val="100000"/>
              <a:buNone/>
            </a:pPr>
            <a:r>
              <a:rPr b="1" lang="en" sz="1200">
                <a:latin typeface="Times New Roman"/>
                <a:ea typeface="Times New Roman"/>
                <a:cs typeface="Times New Roman"/>
                <a:sym typeface="Times New Roman"/>
              </a:rPr>
              <a:t>	2. Negative Correlation</a:t>
            </a:r>
            <a:endParaRPr/>
          </a:p>
          <a:p>
            <a:pPr indent="0" lvl="0" marL="0" rtl="0" algn="just">
              <a:lnSpc>
                <a:spcPct val="150000"/>
              </a:lnSpc>
              <a:spcBef>
                <a:spcPts val="900"/>
              </a:spcBef>
              <a:spcAft>
                <a:spcPts val="0"/>
              </a:spcAft>
              <a:buClr>
                <a:schemeClr val="dk2"/>
              </a:buClr>
              <a:buSzPct val="100000"/>
              <a:buNone/>
            </a:pPr>
            <a:r>
              <a:rPr b="1" lang="en" sz="1200">
                <a:latin typeface="Times New Roman"/>
                <a:ea typeface="Times New Roman"/>
                <a:cs typeface="Times New Roman"/>
                <a:sym typeface="Times New Roman"/>
              </a:rPr>
              <a:t>MULTICOLLINEARITY</a:t>
            </a:r>
            <a:endParaRPr/>
          </a:p>
          <a:p>
            <a:pPr indent="0" lvl="0" marL="0" rtl="0" algn="just">
              <a:lnSpc>
                <a:spcPct val="150000"/>
              </a:lnSpc>
              <a:spcBef>
                <a:spcPts val="900"/>
              </a:spcBef>
              <a:spcAft>
                <a:spcPts val="0"/>
              </a:spcAft>
              <a:buClr>
                <a:schemeClr val="dk2"/>
              </a:buClr>
              <a:buSzPct val="100000"/>
              <a:buNone/>
            </a:pPr>
            <a:r>
              <a:rPr lang="en" sz="1200">
                <a:latin typeface="Times New Roman"/>
                <a:ea typeface="Times New Roman"/>
                <a:cs typeface="Times New Roman"/>
                <a:sym typeface="Times New Roman"/>
              </a:rPr>
              <a:t>	Multicollinearity occurs in regression analysis when two or more predictor variables (features) are highly correlated with each other. This means that they provide redundant information about the outcome variable (the variable you are trying to predict).</a:t>
            </a:r>
            <a:endParaRPr/>
          </a:p>
          <a:p>
            <a:pPr indent="0" lvl="0" marL="0" rtl="0" algn="just">
              <a:lnSpc>
                <a:spcPct val="150000"/>
              </a:lnSpc>
              <a:spcBef>
                <a:spcPts val="900"/>
              </a:spcBef>
              <a:spcAft>
                <a:spcPts val="0"/>
              </a:spcAft>
              <a:buClr>
                <a:schemeClr val="dk2"/>
              </a:buClr>
              <a:buSzPct val="100000"/>
              <a:buNone/>
            </a:pPr>
            <a:r>
              <a:t/>
            </a:r>
            <a:endParaRPr sz="12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2"/>
          <p:cNvSpPr txBox="1"/>
          <p:nvPr>
            <p:ph idx="1" type="body"/>
          </p:nvPr>
        </p:nvSpPr>
        <p:spPr>
          <a:xfrm>
            <a:off x="1028700" y="148806"/>
            <a:ext cx="7200900" cy="4251900"/>
          </a:xfrm>
          <a:prstGeom prst="rect">
            <a:avLst/>
          </a:prstGeom>
          <a:noFill/>
          <a:ln>
            <a:noFill/>
          </a:ln>
        </p:spPr>
        <p:txBody>
          <a:bodyPr anchorCtr="0" anchor="t" bIns="34275" lIns="68575" spcFirstLastPara="1" rIns="68575" wrap="square" tIns="34275">
            <a:normAutofit/>
          </a:bodyPr>
          <a:lstStyle/>
          <a:p>
            <a:pPr indent="0" lvl="0" marL="0" rtl="0" algn="l">
              <a:lnSpc>
                <a:spcPct val="94000"/>
              </a:lnSpc>
              <a:spcBef>
                <a:spcPts val="0"/>
              </a:spcBef>
              <a:spcAft>
                <a:spcPts val="0"/>
              </a:spcAft>
              <a:buClr>
                <a:schemeClr val="dk2"/>
              </a:buClr>
              <a:buSzPts val="1200"/>
              <a:buNone/>
            </a:pPr>
            <a:r>
              <a:rPr b="1" lang="en" sz="1200">
                <a:latin typeface="Times New Roman"/>
                <a:ea typeface="Times New Roman"/>
                <a:cs typeface="Times New Roman"/>
                <a:sym typeface="Times New Roman"/>
              </a:rPr>
              <a:t>POSITIVE CORRELATION</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It means that the linear relationship is positive and the two variables increases or decreases in the same direction.</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Ex.: </a:t>
            </a:r>
            <a:r>
              <a:rPr lang="en" sz="1200">
                <a:latin typeface="Times New Roman"/>
                <a:ea typeface="Times New Roman"/>
                <a:cs typeface="Times New Roman"/>
                <a:sym typeface="Times New Roman"/>
              </a:rPr>
              <a:t>As the No. of trees cut down increases the probability of erosion increases.</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NEGATIVE CORRELATION</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Negative correlation is just the opposite, the relationship line has a negative slope and the variables change in opposing directions. </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Ex.: </a:t>
            </a:r>
            <a:r>
              <a:rPr lang="en" sz="1200">
                <a:latin typeface="Times New Roman"/>
                <a:ea typeface="Times New Roman"/>
                <a:cs typeface="Times New Roman"/>
                <a:sym typeface="Times New Roman"/>
              </a:rPr>
              <a:t> If a car decreases speed, the time taken to reach the destination increases.</a:t>
            </a:r>
            <a:endParaRPr/>
          </a:p>
          <a:p>
            <a:pPr indent="0" lvl="0" marL="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p:txBody>
      </p:sp>
      <p:pic>
        <p:nvPicPr>
          <p:cNvPr descr="Mastering Positive Correlation Analysis: Tools and Techniques -  isixsigma.com" id="226" name="Google Shape;226;p42"/>
          <p:cNvPicPr preferRelativeResize="0"/>
          <p:nvPr/>
        </p:nvPicPr>
        <p:blipFill rotWithShape="1">
          <a:blip r:embed="rId3">
            <a:alphaModFix/>
          </a:blip>
          <a:srcRect b="0" l="0" r="0" t="0"/>
          <a:stretch/>
        </p:blipFill>
        <p:spPr>
          <a:xfrm>
            <a:off x="2593316" y="2267602"/>
            <a:ext cx="3475367" cy="272709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43"/>
          <p:cNvPicPr preferRelativeResize="0"/>
          <p:nvPr/>
        </p:nvPicPr>
        <p:blipFill rotWithShape="1">
          <a:blip r:embed="rId3">
            <a:alphaModFix/>
          </a:blip>
          <a:srcRect b="0" l="0" r="0" t="0"/>
          <a:stretch/>
        </p:blipFill>
        <p:spPr>
          <a:xfrm>
            <a:off x="1598043" y="3008462"/>
            <a:ext cx="6198081" cy="1728096"/>
          </a:xfrm>
          <a:prstGeom prst="rect">
            <a:avLst/>
          </a:prstGeom>
          <a:noFill/>
          <a:ln>
            <a:noFill/>
          </a:ln>
        </p:spPr>
      </p:pic>
      <p:sp>
        <p:nvSpPr>
          <p:cNvPr id="232" name="Google Shape;232;p43"/>
          <p:cNvSpPr txBox="1"/>
          <p:nvPr/>
        </p:nvSpPr>
        <p:spPr>
          <a:xfrm>
            <a:off x="1296118" y="355841"/>
            <a:ext cx="72120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400"/>
              <a:buFont typeface="Times New Roman"/>
              <a:buNone/>
            </a:pPr>
            <a:r>
              <a:rPr b="1" i="0" lang="en" sz="1400" u="none" cap="none" strike="noStrike">
                <a:solidFill>
                  <a:schemeClr val="dk1"/>
                </a:solidFill>
                <a:latin typeface="Times New Roman"/>
                <a:ea typeface="Times New Roman"/>
                <a:cs typeface="Times New Roman"/>
                <a:sym typeface="Times New Roman"/>
              </a:rPr>
              <a:t>CORRELATION COEFFICIENT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rPr b="1" i="0" lang="en" sz="1400" u="none" cap="none" strike="noStrike">
                <a:solidFill>
                  <a:schemeClr val="dk1"/>
                </a:solidFill>
                <a:latin typeface="Times New Roman"/>
                <a:ea typeface="Times New Roman"/>
                <a:cs typeface="Times New Roman"/>
                <a:sym typeface="Times New Roman"/>
              </a:rPr>
              <a:t>	</a:t>
            </a:r>
            <a:r>
              <a:rPr b="0" i="0" lang="en" sz="1400" u="none" cap="none" strike="noStrike">
                <a:solidFill>
                  <a:schemeClr val="dk1"/>
                </a:solidFill>
                <a:latin typeface="Times New Roman"/>
                <a:ea typeface="Times New Roman"/>
                <a:cs typeface="Times New Roman"/>
                <a:sym typeface="Times New Roman"/>
              </a:rPr>
              <a:t>The correlation coefficient is denoted by</a:t>
            </a:r>
            <a:r>
              <a:rPr b="1" i="0" lang="en" sz="1400" u="none" cap="none" strike="noStrike">
                <a:solidFill>
                  <a:schemeClr val="dk1"/>
                </a:solidFill>
                <a:latin typeface="Times New Roman"/>
                <a:ea typeface="Times New Roman"/>
                <a:cs typeface="Times New Roman"/>
                <a:sym typeface="Times New Roman"/>
              </a:rPr>
              <a:t> “r”.  </a:t>
            </a:r>
            <a:r>
              <a:rPr b="0" i="0" lang="en" sz="1400" u="none" cap="none" strike="noStrike">
                <a:solidFill>
                  <a:schemeClr val="dk1"/>
                </a:solidFill>
                <a:latin typeface="Times New Roman"/>
                <a:ea typeface="Times New Roman"/>
                <a:cs typeface="Times New Roman"/>
                <a:sym typeface="Times New Roman"/>
              </a:rPr>
              <a:t>It gives as a measure of the strength of the linear relationship between the two variables.</a:t>
            </a:r>
            <a:endParaRPr b="0" i="0" sz="1100" u="none" cap="none" strike="noStrike">
              <a:solidFill>
                <a:srgbClr val="000000"/>
              </a:solidFill>
              <a:latin typeface="Arial"/>
              <a:ea typeface="Arial"/>
              <a:cs typeface="Arial"/>
              <a:sym typeface="Arial"/>
            </a:endParaRPr>
          </a:p>
        </p:txBody>
      </p:sp>
      <p:pic>
        <p:nvPicPr>
          <p:cNvPr id="233" name="Google Shape;233;p43"/>
          <p:cNvPicPr preferRelativeResize="0"/>
          <p:nvPr/>
        </p:nvPicPr>
        <p:blipFill rotWithShape="1">
          <a:blip r:embed="rId4">
            <a:alphaModFix/>
          </a:blip>
          <a:srcRect b="0" l="0" r="0" t="0"/>
          <a:stretch/>
        </p:blipFill>
        <p:spPr>
          <a:xfrm>
            <a:off x="1439533" y="1048338"/>
            <a:ext cx="6515100" cy="172809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idx="1" type="body"/>
          </p:nvPr>
        </p:nvSpPr>
        <p:spPr>
          <a:xfrm>
            <a:off x="1028700" y="90578"/>
            <a:ext cx="7200900" cy="4309800"/>
          </a:xfrm>
          <a:prstGeom prst="rect">
            <a:avLst/>
          </a:prstGeom>
          <a:noFill/>
          <a:ln>
            <a:noFill/>
          </a:ln>
        </p:spPr>
        <p:txBody>
          <a:bodyPr anchorCtr="0" anchor="t" bIns="34275" lIns="68575" spcFirstLastPara="1" rIns="68575" wrap="square" tIns="34275">
            <a:normAutofit/>
          </a:bodyPr>
          <a:lstStyle/>
          <a:p>
            <a:pPr indent="-292100" lvl="0" marL="292100" rtl="0" algn="l">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Remove Highly Correlated Predictors</a:t>
            </a:r>
            <a:r>
              <a:rPr lang="en" sz="1200">
                <a:latin typeface="Times New Roman"/>
                <a:ea typeface="Times New Roman"/>
                <a:cs typeface="Times New Roman"/>
                <a:sym typeface="Times New Roman"/>
              </a:rPr>
              <a:t>: If two variables are highly correlated, consider removing one of them from the model.</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Combine Variables: </a:t>
            </a:r>
            <a:r>
              <a:rPr lang="en" sz="1200">
                <a:latin typeface="Times New Roman"/>
                <a:ea typeface="Times New Roman"/>
                <a:cs typeface="Times New Roman"/>
                <a:sym typeface="Times New Roman"/>
              </a:rPr>
              <a:t>Create a new variable that combines the information from the correlated variables.</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Principal Component Analysis (PCA):</a:t>
            </a:r>
            <a:r>
              <a:rPr lang="en" sz="1200">
                <a:latin typeface="Times New Roman"/>
                <a:ea typeface="Times New Roman"/>
                <a:cs typeface="Times New Roman"/>
                <a:sym typeface="Times New Roman"/>
              </a:rPr>
              <a:t> Use PCA to reduce the dimensionality of the data, which transforms the correlated variables into a set of uncorrelated components.</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Regularization</a:t>
            </a:r>
            <a:r>
              <a:rPr lang="en" sz="1200">
                <a:latin typeface="Times New Roman"/>
                <a:ea typeface="Times New Roman"/>
                <a:cs typeface="Times New Roman"/>
                <a:sym typeface="Times New Roman"/>
              </a:rPr>
              <a:t>: Techniques like Ridge Regression can help mitigate the effects of multicollinearity by adding a penalty to the size of the coefficients.</a:t>
            </a:r>
            <a:endParaRPr/>
          </a:p>
          <a:p>
            <a:pPr indent="0" lvl="0" marL="0" rtl="0" algn="l">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Summary</a:t>
            </a:r>
            <a:endParaRPr/>
          </a:p>
          <a:p>
            <a:pPr indent="0" lvl="0" marL="0" rtl="0" algn="l">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Multicollinearity: </a:t>
            </a:r>
            <a:r>
              <a:rPr lang="en" sz="1200">
                <a:latin typeface="Times New Roman"/>
                <a:ea typeface="Times New Roman"/>
                <a:cs typeface="Times New Roman"/>
                <a:sym typeface="Times New Roman"/>
              </a:rPr>
              <a:t>When predictor variables in a regression model are highly correlated.</a:t>
            </a:r>
            <a:endParaRPr/>
          </a:p>
          <a:p>
            <a:pPr indent="0" lvl="0" marL="0" rtl="0" algn="l">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Problems</a:t>
            </a:r>
            <a:r>
              <a:rPr lang="en" sz="1200">
                <a:latin typeface="Times New Roman"/>
                <a:ea typeface="Times New Roman"/>
                <a:cs typeface="Times New Roman"/>
                <a:sym typeface="Times New Roman"/>
              </a:rPr>
              <a:t>: Leads to unstable coefficients, reduced interpretability, and inflated standard errors.</a:t>
            </a:r>
            <a:endParaRPr/>
          </a:p>
          <a:p>
            <a:pPr indent="0" lvl="0" marL="0" rtl="0" algn="l">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Detection</a:t>
            </a:r>
            <a:r>
              <a:rPr lang="en" sz="1200">
                <a:latin typeface="Times New Roman"/>
                <a:ea typeface="Times New Roman"/>
                <a:cs typeface="Times New Roman"/>
                <a:sym typeface="Times New Roman"/>
              </a:rPr>
              <a:t>: Use correlation matrices or variance inflation factor VIF.</a:t>
            </a:r>
            <a:endParaRPr/>
          </a:p>
          <a:p>
            <a:pPr indent="0" lvl="0" marL="0" rtl="0" algn="l">
              <a:lnSpc>
                <a:spcPct val="150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Solutions</a:t>
            </a:r>
            <a:r>
              <a:rPr lang="en" sz="1200">
                <a:latin typeface="Times New Roman"/>
                <a:ea typeface="Times New Roman"/>
                <a:cs typeface="Times New Roman"/>
                <a:sym typeface="Times New Roman"/>
              </a:rPr>
              <a:t>: Remove correlated predictors, combine them, use PCA, or apply regularization.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2 - How to Calculate a Correlation Matrix - Data Exploration for Machine  Learning | OpenText™ Vertica™" id="243" name="Google Shape;243;p45"/>
          <p:cNvPicPr preferRelativeResize="0"/>
          <p:nvPr/>
        </p:nvPicPr>
        <p:blipFill rotWithShape="1">
          <a:blip r:embed="rId3">
            <a:alphaModFix/>
          </a:blip>
          <a:srcRect b="0" l="0" r="0" t="0"/>
          <a:stretch/>
        </p:blipFill>
        <p:spPr>
          <a:xfrm>
            <a:off x="2018783" y="440351"/>
            <a:ext cx="4929794" cy="42579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2 - How to Calculate a Correlation Matrix - Data Exploration for Machine  Learning | OpenText™ Vertica™" id="248" name="Google Shape;248;p46"/>
          <p:cNvPicPr preferRelativeResize="0"/>
          <p:nvPr/>
        </p:nvPicPr>
        <p:blipFill rotWithShape="1">
          <a:blip r:embed="rId3">
            <a:alphaModFix/>
          </a:blip>
          <a:srcRect b="0" l="0" r="0" t="0"/>
          <a:stretch/>
        </p:blipFill>
        <p:spPr>
          <a:xfrm>
            <a:off x="1899227" y="258523"/>
            <a:ext cx="4952303" cy="438051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2 - How to Calculate a Correlation Matrix - Data Exploration for Machine  Learning | OpenText™ Vertica™" id="253" name="Google Shape;253;p47"/>
          <p:cNvPicPr preferRelativeResize="0"/>
          <p:nvPr/>
        </p:nvPicPr>
        <p:blipFill rotWithShape="1">
          <a:blip r:embed="rId3">
            <a:alphaModFix/>
          </a:blip>
          <a:srcRect b="0" l="0" r="0" t="0"/>
          <a:stretch/>
        </p:blipFill>
        <p:spPr>
          <a:xfrm>
            <a:off x="2010393" y="284402"/>
            <a:ext cx="5123214" cy="446183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CHSI data correlation matrix" id="258" name="Google Shape;258;p48"/>
          <p:cNvPicPr preferRelativeResize="0"/>
          <p:nvPr/>
        </p:nvPicPr>
        <p:blipFill rotWithShape="1">
          <a:blip r:embed="rId3">
            <a:alphaModFix/>
          </a:blip>
          <a:srcRect b="0" l="0" r="0" t="0"/>
          <a:stretch/>
        </p:blipFill>
        <p:spPr>
          <a:xfrm>
            <a:off x="2012988" y="269912"/>
            <a:ext cx="5239670" cy="451277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9"/>
          <p:cNvSpPr txBox="1"/>
          <p:nvPr>
            <p:ph type="title"/>
          </p:nvPr>
        </p:nvSpPr>
        <p:spPr>
          <a:xfrm>
            <a:off x="1028700" y="514350"/>
            <a:ext cx="7200900" cy="3138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OVERFITTING AND UNDERFITTING</a:t>
            </a:r>
            <a:endParaRPr/>
          </a:p>
        </p:txBody>
      </p:sp>
      <p:sp>
        <p:nvSpPr>
          <p:cNvPr id="264" name="Google Shape;264;p49"/>
          <p:cNvSpPr txBox="1"/>
          <p:nvPr>
            <p:ph idx="1" type="body"/>
          </p:nvPr>
        </p:nvSpPr>
        <p:spPr>
          <a:xfrm>
            <a:off x="1028700" y="705209"/>
            <a:ext cx="7200900" cy="3695400"/>
          </a:xfrm>
          <a:prstGeom prst="rect">
            <a:avLst/>
          </a:prstGeom>
          <a:noFill/>
          <a:ln>
            <a:noFill/>
          </a:ln>
        </p:spPr>
        <p:txBody>
          <a:bodyPr anchorCtr="0" anchor="t" bIns="34275" lIns="68575" spcFirstLastPara="1" rIns="68575" wrap="square" tIns="34275">
            <a:normAutofit lnSpcReduction="10000"/>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Overfitting and Underfitting are the two main problems that occur in machine learning and degrade the performance of the machine learning models.</a:t>
            </a:r>
            <a:endParaRPr/>
          </a:p>
          <a:p>
            <a:pPr indent="-292100" lvl="0" marL="292100" rtl="0" algn="l">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The main goal of each machine learning model is to generalize well. Here generalization defines the ability of an ML model to provide a suitable output by adapting the given set of unknown input. It means after providing training on the dataset, it can produce reliable and accurate output. Hence, the underfitting and overfitting are the two terms that need to be checked for the performance of the model and whether the model is generalizing well or not.</a:t>
            </a:r>
            <a:endParaRPr/>
          </a:p>
          <a:p>
            <a:pPr indent="0" lvl="1" marL="393700" rtl="0" algn="l">
              <a:lnSpc>
                <a:spcPct val="150000"/>
              </a:lnSpc>
              <a:spcBef>
                <a:spcPts val="500"/>
              </a:spcBef>
              <a:spcAft>
                <a:spcPts val="0"/>
              </a:spcAft>
              <a:buClr>
                <a:schemeClr val="dk2"/>
              </a:buClr>
              <a:buSzPts val="1200"/>
              <a:buNone/>
            </a:pPr>
            <a:r>
              <a:rPr b="1" lang="en" sz="1200">
                <a:latin typeface="Times New Roman"/>
                <a:ea typeface="Times New Roman"/>
                <a:cs typeface="Times New Roman"/>
                <a:sym typeface="Times New Roman"/>
              </a:rPr>
              <a:t>Bias</a:t>
            </a: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Error in our Training data</a:t>
            </a:r>
            <a:r>
              <a:rPr lang="en" sz="1200">
                <a:latin typeface="Times New Roman"/>
                <a:ea typeface="Times New Roman"/>
                <a:cs typeface="Times New Roman"/>
                <a:sym typeface="Times New Roman"/>
              </a:rPr>
              <a:t>. Bias is a prediction error that is introduced in the model due to oversimplifying the machine learning algorithms. Or it is the difference between the predicted values and the actual values.</a:t>
            </a:r>
            <a:endParaRPr/>
          </a:p>
          <a:p>
            <a:pPr indent="0" lvl="1" marL="393700" rtl="0" algn="l">
              <a:lnSpc>
                <a:spcPct val="150000"/>
              </a:lnSpc>
              <a:spcBef>
                <a:spcPts val="500"/>
              </a:spcBef>
              <a:spcAft>
                <a:spcPts val="0"/>
              </a:spcAft>
              <a:buClr>
                <a:schemeClr val="dk2"/>
              </a:buClr>
              <a:buSzPts val="1200"/>
              <a:buNone/>
            </a:pPr>
            <a:r>
              <a:rPr b="1" lang="en" sz="1200">
                <a:latin typeface="Times New Roman"/>
                <a:ea typeface="Times New Roman"/>
                <a:cs typeface="Times New Roman"/>
                <a:sym typeface="Times New Roman"/>
              </a:rPr>
              <a:t>Variance</a:t>
            </a: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Error in our Testing data.</a:t>
            </a:r>
            <a:r>
              <a:rPr lang="en" sz="1200">
                <a:latin typeface="Times New Roman"/>
                <a:ea typeface="Times New Roman"/>
                <a:cs typeface="Times New Roman"/>
                <a:sym typeface="Times New Roman"/>
              </a:rPr>
              <a:t> If the machine learning model performs well with the training dataset, but does not perform well with the test dataset, then variance occurs.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0"/>
          <p:cNvSpPr txBox="1"/>
          <p:nvPr>
            <p:ph type="title"/>
          </p:nvPr>
        </p:nvSpPr>
        <p:spPr>
          <a:xfrm>
            <a:off x="1028700" y="514350"/>
            <a:ext cx="7200900" cy="4236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OVERFITTING</a:t>
            </a:r>
            <a:endParaRPr b="1" sz="1200">
              <a:latin typeface="Times New Roman"/>
              <a:ea typeface="Times New Roman"/>
              <a:cs typeface="Times New Roman"/>
              <a:sym typeface="Times New Roman"/>
            </a:endParaRPr>
          </a:p>
        </p:txBody>
      </p:sp>
      <p:sp>
        <p:nvSpPr>
          <p:cNvPr id="270" name="Google Shape;270;p50"/>
          <p:cNvSpPr txBox="1"/>
          <p:nvPr>
            <p:ph idx="1" type="body"/>
          </p:nvPr>
        </p:nvSpPr>
        <p:spPr>
          <a:xfrm>
            <a:off x="1028700" y="860485"/>
            <a:ext cx="7200900" cy="35403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Overfitting occurs when our machine learning model tries to cover all the data points or more than the required data points present in the given dataset. Because of this, the model starts caching noise and inaccurate values present in the dataset, and all these factors reduce the efficiency and accuracy of the model. The overfitted model has </a:t>
            </a:r>
            <a:r>
              <a:rPr b="1" lang="en" sz="1200">
                <a:latin typeface="Times New Roman"/>
                <a:ea typeface="Times New Roman"/>
                <a:cs typeface="Times New Roman"/>
                <a:sym typeface="Times New Roman"/>
              </a:rPr>
              <a:t>low bias and high variance</a:t>
            </a:r>
            <a:r>
              <a:rPr lang="en" sz="1200">
                <a:latin typeface="Times New Roman"/>
                <a:ea typeface="Times New Roman"/>
                <a:cs typeface="Times New Roman"/>
                <a:sym typeface="Times New Roman"/>
              </a:rPr>
              <a:t>.</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The chances of occurrence of overfitting increase as much we provide training to our model. It means the more we train our model, the more chances of occurring the overfitted model.</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Overfitting is the main problem that occurs in </a:t>
            </a:r>
            <a:r>
              <a:rPr b="1" lang="en" sz="1200">
                <a:latin typeface="Times New Roman"/>
                <a:ea typeface="Times New Roman"/>
                <a:cs typeface="Times New Roman"/>
                <a:sym typeface="Times New Roman"/>
              </a:rPr>
              <a:t>supervised learning</a:t>
            </a:r>
            <a:r>
              <a:rPr lang="en" sz="1200">
                <a:latin typeface="Times New Roman"/>
                <a:ea typeface="Times New Roman"/>
                <a:cs typeface="Times New Roman"/>
                <a:sym typeface="Times New Roman"/>
              </a:rPr>
              <a:t>.</a:t>
            </a:r>
            <a:endParaRPr/>
          </a:p>
          <a:p>
            <a:pPr indent="-292100" lvl="0" marL="292100" rtl="0" algn="just">
              <a:lnSpc>
                <a:spcPct val="150000"/>
              </a:lnSpc>
              <a:spcBef>
                <a:spcPts val="900"/>
              </a:spcBef>
              <a:spcAft>
                <a:spcPts val="0"/>
              </a:spcAft>
              <a:buClr>
                <a:schemeClr val="dk2"/>
              </a:buClr>
              <a:buSzPts val="1200"/>
              <a:buFont typeface="Noto Sans Symbols"/>
              <a:buChar char="⮚"/>
            </a:pPr>
            <a:r>
              <a:rPr lang="en" sz="1200">
                <a:latin typeface="Times New Roman"/>
                <a:ea typeface="Times New Roman"/>
                <a:cs typeface="Times New Roman"/>
                <a:sym typeface="Times New Roman"/>
              </a:rPr>
              <a:t>example: The concept of the overfitting can be understood by the below graph of the linear regression output: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1"/>
          <p:cNvSpPr txBox="1"/>
          <p:nvPr>
            <p:ph type="title"/>
          </p:nvPr>
        </p:nvSpPr>
        <p:spPr>
          <a:xfrm>
            <a:off x="1080457" y="3257549"/>
            <a:ext cx="7640700" cy="1614300"/>
          </a:xfrm>
          <a:prstGeom prst="rect">
            <a:avLst/>
          </a:prstGeom>
          <a:noFill/>
          <a:ln>
            <a:noFill/>
          </a:ln>
        </p:spPr>
        <p:txBody>
          <a:bodyPr anchorCtr="0" anchor="t" bIns="34275" lIns="68575" spcFirstLastPara="1" rIns="68575" wrap="square" tIns="34275">
            <a:normAutofit/>
          </a:bodyPr>
          <a:lstStyle/>
          <a:p>
            <a:pPr indent="0" lvl="0" marL="0" rtl="0" algn="just">
              <a:lnSpc>
                <a:spcPct val="150000"/>
              </a:lnSpc>
              <a:spcBef>
                <a:spcPts val="0"/>
              </a:spcBef>
              <a:spcAft>
                <a:spcPts val="0"/>
              </a:spcAft>
              <a:buClr>
                <a:schemeClr val="dk2"/>
              </a:buClr>
              <a:buSzPts val="1200"/>
              <a:buFont typeface="Times New Roman"/>
              <a:buNone/>
            </a:pPr>
            <a:r>
              <a:rPr lang="en" sz="1200">
                <a:latin typeface="Times New Roman"/>
                <a:ea typeface="Times New Roman"/>
                <a:cs typeface="Times New Roman"/>
                <a:sym typeface="Times New Roman"/>
              </a:rPr>
              <a:t>As we can see from the above graph, the model tries to cover all the data points present in the scatter plot. It may look efficient, but in reality, it is not so. Because the goal of the regression model to find the best fit line, but here we have not got any best fit, so, it will generate the prediction errors.</a:t>
            </a:r>
            <a:endParaRPr sz="1200">
              <a:latin typeface="Times New Roman"/>
              <a:ea typeface="Times New Roman"/>
              <a:cs typeface="Times New Roman"/>
              <a:sym typeface="Times New Roman"/>
            </a:endParaRPr>
          </a:p>
        </p:txBody>
      </p:sp>
      <p:pic>
        <p:nvPicPr>
          <p:cNvPr id="276" name="Google Shape;276;p51"/>
          <p:cNvPicPr preferRelativeResize="0"/>
          <p:nvPr>
            <p:ph idx="4294967295" type="body"/>
          </p:nvPr>
        </p:nvPicPr>
        <p:blipFill rotWithShape="1">
          <a:blip r:embed="rId3">
            <a:alphaModFix/>
          </a:blip>
          <a:srcRect b="0" l="0" r="0" t="0"/>
          <a:stretch/>
        </p:blipFill>
        <p:spPr>
          <a:xfrm>
            <a:off x="2245542" y="216649"/>
            <a:ext cx="5035200" cy="2745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2"/>
          <p:cNvSpPr txBox="1"/>
          <p:nvPr>
            <p:ph type="title"/>
          </p:nvPr>
        </p:nvSpPr>
        <p:spPr>
          <a:xfrm>
            <a:off x="1028700" y="514349"/>
            <a:ext cx="7200900" cy="39885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UNDERFITTING</a:t>
            </a:r>
            <a:br>
              <a:rPr lang="en" sz="1200">
                <a:latin typeface="Times New Roman"/>
                <a:ea typeface="Times New Roman"/>
                <a:cs typeface="Times New Roman"/>
                <a:sym typeface="Times New Roman"/>
              </a:rPr>
            </a:b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1. Underfitting occurs when our machine learning model is not able to capture the underlying trend of the data. To avoid the overfitting in the model, the fed of training data can be stopped at an early stage, due to which the model may not learn enough from the training data. As a result, it may fail to find the best fit of the dominant trend in the data.</a:t>
            </a:r>
            <a:br>
              <a:rPr lang="en" sz="1200">
                <a:latin typeface="Times New Roman"/>
                <a:ea typeface="Times New Roman"/>
                <a:cs typeface="Times New Roman"/>
                <a:sym typeface="Times New Roman"/>
              </a:rPr>
            </a:b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2. In the case of underfitting, the model is not able to learn enough from the training data, and hence it reduces the accuracy and produces unreliable predictions.</a:t>
            </a:r>
            <a:br>
              <a:rPr lang="en" sz="1200">
                <a:latin typeface="Times New Roman"/>
                <a:ea typeface="Times New Roman"/>
                <a:cs typeface="Times New Roman"/>
                <a:sym typeface="Times New Roman"/>
              </a:rPr>
            </a:b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3. An underfitted model has </a:t>
            </a:r>
            <a:r>
              <a:rPr b="1" lang="en" sz="1200">
                <a:latin typeface="Times New Roman"/>
                <a:ea typeface="Times New Roman"/>
                <a:cs typeface="Times New Roman"/>
                <a:sym typeface="Times New Roman"/>
              </a:rPr>
              <a:t>high bias and low variance</a:t>
            </a:r>
            <a:r>
              <a:rPr lang="en" sz="1200">
                <a:latin typeface="Times New Roman"/>
                <a:ea typeface="Times New Roman"/>
                <a:cs typeface="Times New Roman"/>
                <a:sym typeface="Times New Roman"/>
              </a:rPr>
              <a:t>.</a:t>
            </a:r>
            <a:br>
              <a:rPr lang="en" sz="1200">
                <a:latin typeface="Times New Roman"/>
                <a:ea typeface="Times New Roman"/>
                <a:cs typeface="Times New Roman"/>
                <a:sym typeface="Times New Roman"/>
              </a:rPr>
            </a:b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Example: We can understand the underfitting using below output of the linear regression model:</a:t>
            </a:r>
            <a:endParaRPr sz="12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53"/>
          <p:cNvPicPr preferRelativeResize="0"/>
          <p:nvPr/>
        </p:nvPicPr>
        <p:blipFill rotWithShape="1">
          <a:blip r:embed="rId3">
            <a:alphaModFix/>
          </a:blip>
          <a:srcRect b="0" l="0" r="0" t="0"/>
          <a:stretch/>
        </p:blipFill>
        <p:spPr>
          <a:xfrm>
            <a:off x="1692664" y="360894"/>
            <a:ext cx="5113578" cy="2792013"/>
          </a:xfrm>
          <a:prstGeom prst="rect">
            <a:avLst/>
          </a:prstGeom>
          <a:noFill/>
          <a:ln>
            <a:noFill/>
          </a:ln>
        </p:spPr>
      </p:pic>
      <p:sp>
        <p:nvSpPr>
          <p:cNvPr id="287" name="Google Shape;287;p53"/>
          <p:cNvSpPr txBox="1"/>
          <p:nvPr>
            <p:ph type="title"/>
          </p:nvPr>
        </p:nvSpPr>
        <p:spPr>
          <a:xfrm>
            <a:off x="1145156" y="3432236"/>
            <a:ext cx="7200900" cy="11145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lang="en" sz="1200">
                <a:latin typeface="Times New Roman"/>
                <a:ea typeface="Times New Roman"/>
                <a:cs typeface="Times New Roman"/>
                <a:sym typeface="Times New Roman"/>
              </a:rPr>
              <a:t>As we can see from the above diagram, the model is unable to capture the data points present in the plot.</a:t>
            </a:r>
            <a:endParaRPr sz="12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descr="Lightbox" id="292" name="Google Shape;292;p54"/>
          <p:cNvPicPr preferRelativeResize="0"/>
          <p:nvPr>
            <p:ph idx="1" type="body"/>
          </p:nvPr>
        </p:nvPicPr>
        <p:blipFill rotWithShape="1">
          <a:blip r:embed="rId3">
            <a:alphaModFix/>
          </a:blip>
          <a:srcRect b="0" l="0" r="0" t="0"/>
          <a:stretch/>
        </p:blipFill>
        <p:spPr>
          <a:xfrm>
            <a:off x="804953" y="848915"/>
            <a:ext cx="7997100" cy="3279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imgonlinecomuaresizeLOjqonkALC" id="297" name="Google Shape;297;p55"/>
          <p:cNvPicPr preferRelativeResize="0"/>
          <p:nvPr/>
        </p:nvPicPr>
        <p:blipFill rotWithShape="1">
          <a:blip r:embed="rId3">
            <a:alphaModFix/>
          </a:blip>
          <a:srcRect b="0" l="0" r="0" t="0"/>
          <a:stretch/>
        </p:blipFill>
        <p:spPr>
          <a:xfrm>
            <a:off x="869381" y="937922"/>
            <a:ext cx="7858125" cy="302180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6"/>
          <p:cNvSpPr txBox="1"/>
          <p:nvPr>
            <p:ph type="title"/>
          </p:nvPr>
        </p:nvSpPr>
        <p:spPr>
          <a:xfrm>
            <a:off x="1028700" y="514350"/>
            <a:ext cx="7200900" cy="4302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There were four combination between Bias and Variance</a:t>
            </a:r>
            <a:endParaRPr b="1" sz="1200">
              <a:latin typeface="Times New Roman"/>
              <a:ea typeface="Times New Roman"/>
              <a:cs typeface="Times New Roman"/>
              <a:sym typeface="Times New Roman"/>
            </a:endParaRPr>
          </a:p>
        </p:txBody>
      </p:sp>
      <p:pic>
        <p:nvPicPr>
          <p:cNvPr descr="Lightbox" id="303" name="Google Shape;303;p56"/>
          <p:cNvPicPr preferRelativeResize="0"/>
          <p:nvPr>
            <p:ph idx="1" type="body"/>
          </p:nvPr>
        </p:nvPicPr>
        <p:blipFill rotWithShape="1">
          <a:blip r:embed="rId3">
            <a:alphaModFix/>
          </a:blip>
          <a:srcRect b="0" l="0" r="0" t="0"/>
          <a:stretch/>
        </p:blipFill>
        <p:spPr>
          <a:xfrm>
            <a:off x="2558024" y="944593"/>
            <a:ext cx="4332300" cy="3560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7"/>
          <p:cNvSpPr txBox="1"/>
          <p:nvPr>
            <p:ph idx="1" type="body"/>
          </p:nvPr>
        </p:nvSpPr>
        <p:spPr>
          <a:xfrm>
            <a:off x="770719" y="121444"/>
            <a:ext cx="8046600" cy="4806900"/>
          </a:xfrm>
          <a:prstGeom prst="rect">
            <a:avLst/>
          </a:prstGeom>
        </p:spPr>
        <p:txBody>
          <a:bodyPr anchorCtr="0" anchor="t" bIns="34275" lIns="68575" spcFirstLastPara="1" rIns="68575" wrap="square" tIns="34275">
            <a:normAutofit/>
          </a:bodyPr>
          <a:lstStyle/>
          <a:p>
            <a:pPr indent="0" lvl="0" marL="0" rtl="0" algn="l">
              <a:lnSpc>
                <a:spcPct val="115000"/>
              </a:lnSpc>
              <a:spcBef>
                <a:spcPts val="18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1) First: What is the goal of a ML model?</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A machine learning model should:</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a:t>
            </a:r>
            <a:r>
              <a:rPr b="1" lang="en" sz="1000">
                <a:solidFill>
                  <a:schemeClr val="dk1"/>
                </a:solidFill>
                <a:latin typeface="Times New Roman"/>
                <a:ea typeface="Times New Roman"/>
                <a:cs typeface="Times New Roman"/>
                <a:sym typeface="Times New Roman"/>
              </a:rPr>
              <a:t>Learn patterns from training data</a:t>
            </a:r>
            <a:br>
              <a:rPr b="1"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 </a:t>
            </a:r>
            <a:r>
              <a:rPr b="1" lang="en" sz="1000">
                <a:solidFill>
                  <a:schemeClr val="dk1"/>
                </a:solidFill>
                <a:latin typeface="Times New Roman"/>
                <a:ea typeface="Times New Roman"/>
                <a:cs typeface="Times New Roman"/>
                <a:sym typeface="Times New Roman"/>
              </a:rPr>
              <a:t>Work well on new/unseen data (test data)</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That is called </a:t>
            </a:r>
            <a:r>
              <a:rPr b="1" lang="en" sz="1000">
                <a:solidFill>
                  <a:schemeClr val="dk1"/>
                </a:solidFill>
                <a:latin typeface="Times New Roman"/>
                <a:ea typeface="Times New Roman"/>
                <a:cs typeface="Times New Roman"/>
                <a:sym typeface="Times New Roman"/>
              </a:rPr>
              <a:t>Generalization</a:t>
            </a:r>
            <a:r>
              <a:rPr lang="en"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2) Bias vs Variance (Super Easy Meaning)</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Bias = “How wrong is the model on average?”</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Bias means your model is </a:t>
            </a:r>
            <a:r>
              <a:rPr b="1" lang="en" sz="1000">
                <a:solidFill>
                  <a:schemeClr val="dk1"/>
                </a:solidFill>
                <a:latin typeface="Times New Roman"/>
                <a:ea typeface="Times New Roman"/>
                <a:cs typeface="Times New Roman"/>
                <a:sym typeface="Times New Roman"/>
              </a:rPr>
              <a:t>too simple</a:t>
            </a:r>
            <a:r>
              <a:rPr lang="en" sz="1000">
                <a:solidFill>
                  <a:schemeClr val="dk1"/>
                </a:solidFill>
                <a:latin typeface="Times New Roman"/>
                <a:ea typeface="Times New Roman"/>
                <a:cs typeface="Times New Roman"/>
                <a:sym typeface="Times New Roman"/>
              </a:rPr>
              <a:t> and keeps making similar mistakes.</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Example:</a:t>
            </a:r>
            <a:br>
              <a:rPr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Trying to draw a straight line for a curved pattern.</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a:t>
            </a:r>
            <a:r>
              <a:rPr b="1" lang="en" sz="1000">
                <a:solidFill>
                  <a:schemeClr val="dk1"/>
                </a:solidFill>
                <a:latin typeface="Times New Roman"/>
                <a:ea typeface="Times New Roman"/>
                <a:cs typeface="Times New Roman"/>
                <a:sym typeface="Times New Roman"/>
              </a:rPr>
              <a:t>High Bias = Underfitting</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Variance = “How much does the model change if data changes?”</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Variance means your model is </a:t>
            </a:r>
            <a:r>
              <a:rPr b="1" lang="en" sz="1000">
                <a:solidFill>
                  <a:schemeClr val="dk1"/>
                </a:solidFill>
                <a:latin typeface="Times New Roman"/>
                <a:ea typeface="Times New Roman"/>
                <a:cs typeface="Times New Roman"/>
                <a:sym typeface="Times New Roman"/>
              </a:rPr>
              <a:t>too sensitive</a:t>
            </a:r>
            <a:r>
              <a:rPr lang="en" sz="1000">
                <a:solidFill>
                  <a:schemeClr val="dk1"/>
                </a:solidFill>
                <a:latin typeface="Times New Roman"/>
                <a:ea typeface="Times New Roman"/>
                <a:cs typeface="Times New Roman"/>
                <a:sym typeface="Times New Roman"/>
              </a:rPr>
              <a:t> to training data.</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Example:</a:t>
            </a:r>
            <a:br>
              <a:rPr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If you slightly change training data, the model becomes totally different.</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a:t>
            </a:r>
            <a:r>
              <a:rPr b="1" lang="en" sz="1000">
                <a:solidFill>
                  <a:schemeClr val="dk1"/>
                </a:solidFill>
                <a:latin typeface="Times New Roman"/>
                <a:ea typeface="Times New Roman"/>
                <a:cs typeface="Times New Roman"/>
                <a:sym typeface="Times New Roman"/>
              </a:rPr>
              <a:t>High Variance = Overfitting</a:t>
            </a:r>
            <a:endParaRPr b="1" sz="10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sz="10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8"/>
          <p:cNvSpPr txBox="1"/>
          <p:nvPr>
            <p:ph idx="1" type="body"/>
          </p:nvPr>
        </p:nvSpPr>
        <p:spPr>
          <a:xfrm>
            <a:off x="728644" y="268706"/>
            <a:ext cx="7930800" cy="4365300"/>
          </a:xfrm>
          <a:prstGeom prst="rect">
            <a:avLst/>
          </a:prstGeom>
        </p:spPr>
        <p:txBody>
          <a:bodyPr anchorCtr="0" anchor="t" bIns="34275" lIns="68575" spcFirstLastPara="1" rIns="68575" wrap="square" tIns="34275">
            <a:normAutofit/>
          </a:bodyPr>
          <a:lstStyle/>
          <a:p>
            <a:pPr indent="0" lvl="0" marL="0" rtl="0" algn="l">
              <a:lnSpc>
                <a:spcPct val="115000"/>
              </a:lnSpc>
              <a:spcBef>
                <a:spcPts val="18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3) Underfitting vs Overfitting (Simple)</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Underfitting (Model is too simple)</a:t>
            </a:r>
            <a:endParaRPr b="1" sz="1100">
              <a:solidFill>
                <a:schemeClr val="dk1"/>
              </a:solidFill>
              <a:latin typeface="Times New Roman"/>
              <a:ea typeface="Times New Roman"/>
              <a:cs typeface="Times New Roman"/>
              <a:sym typeface="Times New Roman"/>
            </a:endParaRPr>
          </a:p>
          <a:p>
            <a:pPr indent="-234950" lvl="0" marL="342900" rtl="0" algn="l">
              <a:lnSpc>
                <a:spcPct val="115000"/>
              </a:lnSpc>
              <a:spcBef>
                <a:spcPts val="90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Doesn’t learn training data properly</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Performs badly on training + test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Example:</a:t>
            </a:r>
            <a:br>
              <a:rPr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Predict house price using only 1 rule like:</a:t>
            </a:r>
            <a:br>
              <a:rPr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“bigger house = always expensive” (too simple)</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Bias: </a:t>
            </a:r>
            <a:r>
              <a:rPr b="1" lang="en" sz="1100">
                <a:solidFill>
                  <a:schemeClr val="dk1"/>
                </a:solidFill>
                <a:latin typeface="Times New Roman"/>
                <a:ea typeface="Times New Roman"/>
                <a:cs typeface="Times New Roman"/>
                <a:sym typeface="Times New Roman"/>
              </a:rPr>
              <a:t>High</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Variance: </a:t>
            </a:r>
            <a:r>
              <a:rPr b="1" lang="en" sz="1100">
                <a:solidFill>
                  <a:schemeClr val="dk1"/>
                </a:solidFill>
                <a:latin typeface="Times New Roman"/>
                <a:ea typeface="Times New Roman"/>
                <a:cs typeface="Times New Roman"/>
                <a:sym typeface="Times New Roman"/>
              </a:rPr>
              <a:t>Low</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Train error: </a:t>
            </a:r>
            <a:r>
              <a:rPr b="1" lang="en" sz="1100">
                <a:solidFill>
                  <a:schemeClr val="dk1"/>
                </a:solidFill>
                <a:latin typeface="Times New Roman"/>
                <a:ea typeface="Times New Roman"/>
                <a:cs typeface="Times New Roman"/>
                <a:sym typeface="Times New Roman"/>
              </a:rPr>
              <a:t>High</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Test error: </a:t>
            </a:r>
            <a:r>
              <a:rPr b="1" lang="en" sz="1100">
                <a:solidFill>
                  <a:schemeClr val="dk1"/>
                </a:solidFill>
                <a:latin typeface="Times New Roman"/>
                <a:ea typeface="Times New Roman"/>
                <a:cs typeface="Times New Roman"/>
                <a:sym typeface="Times New Roman"/>
              </a:rPr>
              <a:t>High</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Correct statement:</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Underfitting = High Bias + Low Variance ✅</a:t>
            </a:r>
            <a:endParaRPr b="1" sz="11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sz="11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9"/>
          <p:cNvSpPr txBox="1"/>
          <p:nvPr>
            <p:ph idx="1" type="body"/>
          </p:nvPr>
        </p:nvSpPr>
        <p:spPr>
          <a:xfrm>
            <a:off x="728644" y="268706"/>
            <a:ext cx="7930800" cy="4365300"/>
          </a:xfrm>
          <a:prstGeom prst="rect">
            <a:avLst/>
          </a:prstGeom>
        </p:spPr>
        <p:txBody>
          <a:bodyPr anchorCtr="0" anchor="t" bIns="34275" lIns="68575" spcFirstLastPara="1" rIns="68575" wrap="square" tIns="34275">
            <a:normAutofit/>
          </a:bodyPr>
          <a:lstStyle/>
          <a:p>
            <a:pPr indent="0" lvl="0" marL="0" rtl="0" algn="l">
              <a:lnSpc>
                <a:spcPct val="115000"/>
              </a:lnSpc>
              <a:spcBef>
                <a:spcPts val="14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Overfitting (Model is too complex)</a:t>
            </a:r>
            <a:endParaRPr b="1" sz="1100">
              <a:solidFill>
                <a:schemeClr val="dk1"/>
              </a:solidFill>
              <a:latin typeface="Times New Roman"/>
              <a:ea typeface="Times New Roman"/>
              <a:cs typeface="Times New Roman"/>
              <a:sym typeface="Times New Roman"/>
            </a:endParaRPr>
          </a:p>
          <a:p>
            <a:pPr indent="-234950" lvl="0" marL="342900" rtl="0" algn="l">
              <a:lnSpc>
                <a:spcPct val="115000"/>
              </a:lnSpc>
              <a:spcBef>
                <a:spcPts val="900"/>
              </a:spcBef>
              <a:spcAft>
                <a:spcPts val="0"/>
              </a:spcAft>
              <a:buClr>
                <a:schemeClr val="dk1"/>
              </a:buClr>
              <a:buSzPts val="1100"/>
              <a:buFont typeface="Arial"/>
              <a:buChar char="●"/>
            </a:pPr>
            <a:r>
              <a:rPr lang="en" sz="1100">
                <a:solidFill>
                  <a:schemeClr val="dk1"/>
                </a:solidFill>
                <a:latin typeface="Times New Roman"/>
                <a:ea typeface="Times New Roman"/>
                <a:cs typeface="Times New Roman"/>
                <a:sym typeface="Times New Roman"/>
              </a:rPr>
              <a:t>Learns training data </a:t>
            </a:r>
            <a:r>
              <a:rPr b="1" lang="en" sz="1100">
                <a:solidFill>
                  <a:schemeClr val="dk1"/>
                </a:solidFill>
                <a:latin typeface="Times New Roman"/>
                <a:ea typeface="Times New Roman"/>
                <a:cs typeface="Times New Roman"/>
                <a:sym typeface="Times New Roman"/>
              </a:rPr>
              <a:t>too perfectly</a:t>
            </a:r>
            <a:br>
              <a:rPr b="1" lang="en" sz="1100">
                <a:solidFill>
                  <a:schemeClr val="dk1"/>
                </a:solidFill>
                <a:latin typeface="Times New Roman"/>
                <a:ea typeface="Times New Roman"/>
                <a:cs typeface="Times New Roman"/>
                <a:sym typeface="Times New Roman"/>
              </a:rPr>
            </a:br>
            <a:endParaRPr b="1"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But fails on test data</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Example:</a:t>
            </a:r>
            <a:br>
              <a:rPr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Memorizing all answers for an exam</a:t>
            </a:r>
            <a:br>
              <a:rPr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but can’t solve new questions.</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Bias: </a:t>
            </a:r>
            <a:r>
              <a:rPr b="1" lang="en" sz="1100">
                <a:solidFill>
                  <a:schemeClr val="dk1"/>
                </a:solidFill>
                <a:latin typeface="Times New Roman"/>
                <a:ea typeface="Times New Roman"/>
                <a:cs typeface="Times New Roman"/>
                <a:sym typeface="Times New Roman"/>
              </a:rPr>
              <a:t>Low</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Variance: </a:t>
            </a:r>
            <a:r>
              <a:rPr b="1" lang="en" sz="1100">
                <a:solidFill>
                  <a:schemeClr val="dk1"/>
                </a:solidFill>
                <a:latin typeface="Times New Roman"/>
                <a:ea typeface="Times New Roman"/>
                <a:cs typeface="Times New Roman"/>
                <a:sym typeface="Times New Roman"/>
              </a:rPr>
              <a:t>High</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Train error: </a:t>
            </a:r>
            <a:r>
              <a:rPr b="1" lang="en" sz="1100">
                <a:solidFill>
                  <a:schemeClr val="dk1"/>
                </a:solidFill>
                <a:latin typeface="Times New Roman"/>
                <a:ea typeface="Times New Roman"/>
                <a:cs typeface="Times New Roman"/>
                <a:sym typeface="Times New Roman"/>
              </a:rPr>
              <a:t>Low</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Test error: </a:t>
            </a:r>
            <a:r>
              <a:rPr b="1" lang="en" sz="1100">
                <a:solidFill>
                  <a:schemeClr val="dk1"/>
                </a:solidFill>
                <a:latin typeface="Times New Roman"/>
                <a:ea typeface="Times New Roman"/>
                <a:cs typeface="Times New Roman"/>
                <a:sym typeface="Times New Roman"/>
              </a:rPr>
              <a:t>High</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Correct statement:</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Overfitting = Low Bias + High Variance ✅</a:t>
            </a:r>
            <a:endParaRPr b="1" sz="11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b="1" sz="11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60"/>
          <p:cNvSpPr txBox="1"/>
          <p:nvPr>
            <p:ph idx="1" type="body"/>
          </p:nvPr>
        </p:nvSpPr>
        <p:spPr>
          <a:xfrm>
            <a:off x="728644" y="268706"/>
            <a:ext cx="7930800" cy="4365300"/>
          </a:xfrm>
          <a:prstGeom prst="rect">
            <a:avLst/>
          </a:prstGeom>
        </p:spPr>
        <p:txBody>
          <a:bodyPr anchorCtr="0" anchor="t" bIns="34275" lIns="68575" spcFirstLastPara="1" rIns="68575" wrap="square" tIns="34275">
            <a:normAutofit/>
          </a:bodyPr>
          <a:lstStyle/>
          <a:p>
            <a:pPr indent="0" lvl="0" marL="0" rtl="0" algn="l">
              <a:lnSpc>
                <a:spcPct val="115000"/>
              </a:lnSpc>
              <a:spcBef>
                <a:spcPts val="14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Generalized / Best Fit (Balanced model)</a:t>
            </a:r>
            <a:endParaRPr b="1" sz="1100">
              <a:solidFill>
                <a:schemeClr val="dk1"/>
              </a:solidFill>
              <a:latin typeface="Times New Roman"/>
              <a:ea typeface="Times New Roman"/>
              <a:cs typeface="Times New Roman"/>
              <a:sym typeface="Times New Roman"/>
            </a:endParaRPr>
          </a:p>
          <a:p>
            <a:pPr indent="-234950" lvl="0" marL="342900" rtl="0" algn="l">
              <a:lnSpc>
                <a:spcPct val="115000"/>
              </a:lnSpc>
              <a:spcBef>
                <a:spcPts val="90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Learns patterns, not noise</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Works good on training + test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Bias: </a:t>
            </a:r>
            <a:r>
              <a:rPr b="1" lang="en" sz="1100">
                <a:solidFill>
                  <a:schemeClr val="dk1"/>
                </a:solidFill>
                <a:latin typeface="Times New Roman"/>
                <a:ea typeface="Times New Roman"/>
                <a:cs typeface="Times New Roman"/>
                <a:sym typeface="Times New Roman"/>
              </a:rPr>
              <a:t>Low/Medium</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Variance: </a:t>
            </a:r>
            <a:r>
              <a:rPr b="1" lang="en" sz="1100">
                <a:solidFill>
                  <a:schemeClr val="dk1"/>
                </a:solidFill>
                <a:latin typeface="Times New Roman"/>
                <a:ea typeface="Times New Roman"/>
                <a:cs typeface="Times New Roman"/>
                <a:sym typeface="Times New Roman"/>
              </a:rPr>
              <a:t>Low/Medium</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Train error: </a:t>
            </a:r>
            <a:r>
              <a:rPr b="1" lang="en" sz="1100">
                <a:solidFill>
                  <a:schemeClr val="dk1"/>
                </a:solidFill>
                <a:latin typeface="Times New Roman"/>
                <a:ea typeface="Times New Roman"/>
                <a:cs typeface="Times New Roman"/>
                <a:sym typeface="Times New Roman"/>
              </a:rPr>
              <a:t>Low</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Test error: </a:t>
            </a:r>
            <a:r>
              <a:rPr b="1" lang="en" sz="1100">
                <a:solidFill>
                  <a:schemeClr val="dk1"/>
                </a:solidFill>
                <a:latin typeface="Times New Roman"/>
                <a:ea typeface="Times New Roman"/>
                <a:cs typeface="Times New Roman"/>
                <a:sym typeface="Times New Roman"/>
              </a:rPr>
              <a:t>Low</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Correct statement:</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Good Fit = Low Bias + Low Variance ✅</a:t>
            </a:r>
            <a:endParaRPr b="1" sz="11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b="1" sz="1100">
              <a:solidFill>
                <a:schemeClr val="dk1"/>
              </a:solidFill>
              <a:latin typeface="Times New Roman"/>
              <a:ea typeface="Times New Roman"/>
              <a:cs typeface="Times New Roman"/>
              <a:sym typeface="Times New Roman"/>
            </a:endParaRPr>
          </a:p>
        </p:txBody>
      </p:sp>
      <p:pic>
        <p:nvPicPr>
          <p:cNvPr id="328" name="Google Shape;328;p60"/>
          <p:cNvPicPr preferRelativeResize="0"/>
          <p:nvPr/>
        </p:nvPicPr>
        <p:blipFill>
          <a:blip r:embed="rId3">
            <a:alphaModFix/>
          </a:blip>
          <a:stretch>
            <a:fillRect/>
          </a:stretch>
        </p:blipFill>
        <p:spPr>
          <a:xfrm>
            <a:off x="887597" y="3004500"/>
            <a:ext cx="7179469" cy="1743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61" title="output.png"/>
          <p:cNvPicPr preferRelativeResize="0"/>
          <p:nvPr/>
        </p:nvPicPr>
        <p:blipFill>
          <a:blip r:embed="rId3">
            <a:alphaModFix/>
          </a:blip>
          <a:stretch>
            <a:fillRect/>
          </a:stretch>
        </p:blipFill>
        <p:spPr>
          <a:xfrm>
            <a:off x="976313" y="89691"/>
            <a:ext cx="7698937" cy="3078169"/>
          </a:xfrm>
          <a:prstGeom prst="rect">
            <a:avLst/>
          </a:prstGeom>
          <a:noFill/>
          <a:ln>
            <a:noFill/>
          </a:ln>
        </p:spPr>
      </p:pic>
      <p:sp>
        <p:nvSpPr>
          <p:cNvPr id="335" name="Google Shape;335;p61"/>
          <p:cNvSpPr txBox="1"/>
          <p:nvPr/>
        </p:nvSpPr>
        <p:spPr>
          <a:xfrm>
            <a:off x="1054706" y="3403181"/>
            <a:ext cx="7447200" cy="15252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You can see:</a:t>
            </a: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90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Underfit (degree 1 line)</a:t>
            </a:r>
            <a:r>
              <a:rPr lang="en" sz="1100">
                <a:solidFill>
                  <a:schemeClr val="dk1"/>
                </a:solidFill>
                <a:latin typeface="Times New Roman"/>
                <a:ea typeface="Times New Roman"/>
                <a:cs typeface="Times New Roman"/>
                <a:sym typeface="Times New Roman"/>
              </a:rPr>
              <a:t> → too simple, can’t follow the real curve</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Good fit (degree 3)</a:t>
            </a:r>
            <a:r>
              <a:rPr lang="en" sz="1100">
                <a:solidFill>
                  <a:schemeClr val="dk1"/>
                </a:solidFill>
                <a:latin typeface="Times New Roman"/>
                <a:ea typeface="Times New Roman"/>
                <a:cs typeface="Times New Roman"/>
                <a:sym typeface="Times New Roman"/>
              </a:rPr>
              <a:t> → follows the true pattern smoothly</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Overfit (degree 12)</a:t>
            </a:r>
            <a:r>
              <a:rPr lang="en" sz="1100">
                <a:solidFill>
                  <a:schemeClr val="dk1"/>
                </a:solidFill>
                <a:latin typeface="Times New Roman"/>
                <a:ea typeface="Times New Roman"/>
                <a:cs typeface="Times New Roman"/>
                <a:sym typeface="Times New Roman"/>
              </a:rPr>
              <a:t> → bends too much and tries to match every point (noise also)</a:t>
            </a:r>
            <a:endParaRPr sz="11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sz="1100">
              <a:solidFill>
                <a:schemeClr val="dk2"/>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2"/>
          <p:cNvSpPr txBox="1"/>
          <p:nvPr>
            <p:ph idx="1" type="body"/>
          </p:nvPr>
        </p:nvSpPr>
        <p:spPr>
          <a:xfrm>
            <a:off x="728644" y="268706"/>
            <a:ext cx="7930800" cy="4365300"/>
          </a:xfrm>
          <a:prstGeom prst="rect">
            <a:avLst/>
          </a:prstGeom>
        </p:spPr>
        <p:txBody>
          <a:bodyPr anchorCtr="0" anchor="t" bIns="34275" lIns="68575" spcFirstLastPara="1" rIns="68575" wrap="square" tIns="34275">
            <a:noAutofit/>
          </a:bodyPr>
          <a:lstStyle/>
          <a:p>
            <a:pPr indent="0" lvl="0" marL="0" rtl="0" algn="l">
              <a:lnSpc>
                <a:spcPct val="115000"/>
              </a:lnSpc>
              <a:spcBef>
                <a:spcPts val="1800"/>
              </a:spcBef>
              <a:spcAft>
                <a:spcPts val="0"/>
              </a:spcAft>
              <a:buClr>
                <a:schemeClr val="dk1"/>
              </a:buClr>
              <a:buSzPts val="800"/>
              <a:buFont typeface="Arial"/>
              <a:buNone/>
            </a:pPr>
            <a:r>
              <a:rPr b="1" lang="en" sz="900">
                <a:solidFill>
                  <a:schemeClr val="dk1"/>
                </a:solidFill>
                <a:latin typeface="Times New Roman"/>
                <a:ea typeface="Times New Roman"/>
                <a:cs typeface="Times New Roman"/>
                <a:sym typeface="Times New Roman"/>
              </a:rPr>
              <a:t>“Is there no chance for High Bias + High Variance?”</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900">
                <a:solidFill>
                  <a:schemeClr val="dk1"/>
                </a:solidFill>
                <a:latin typeface="Times New Roman"/>
                <a:ea typeface="Times New Roman"/>
                <a:cs typeface="Times New Roman"/>
                <a:sym typeface="Times New Roman"/>
              </a:rPr>
              <a:t>✅ Yes, it IS possible ✅ (but it’s not the common best-known case)</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High Bias + High Variance can happen when:</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800"/>
              <a:buFont typeface="Arial"/>
              <a:buNone/>
            </a:pPr>
            <a:r>
              <a:rPr b="1" lang="en" sz="900">
                <a:solidFill>
                  <a:schemeClr val="dk1"/>
                </a:solidFill>
                <a:latin typeface="Times New Roman"/>
                <a:ea typeface="Times New Roman"/>
                <a:cs typeface="Times New Roman"/>
                <a:sym typeface="Times New Roman"/>
              </a:rPr>
              <a:t>✅ Case 1: Data is too hard + model is unstable</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Example:</a:t>
            </a: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90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Data is highly noisy / random</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Features are poor (wrong input data)</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Model is not learning real pattern + also keeps changing</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So,</a:t>
            </a: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900"/>
              </a:spcBef>
              <a:spcAft>
                <a:spcPts val="0"/>
              </a:spcAft>
              <a:buClr>
                <a:schemeClr val="dk1"/>
              </a:buClr>
              <a:buSzPts val="900"/>
              <a:buFont typeface="Arial"/>
              <a:buChar char="●"/>
            </a:pPr>
            <a:r>
              <a:rPr b="1" lang="en" sz="900">
                <a:solidFill>
                  <a:schemeClr val="dk1"/>
                </a:solidFill>
                <a:latin typeface="Times New Roman"/>
                <a:ea typeface="Times New Roman"/>
                <a:cs typeface="Times New Roman"/>
                <a:sym typeface="Times New Roman"/>
              </a:rPr>
              <a:t>Bias high</a:t>
            </a:r>
            <a:r>
              <a:rPr lang="en" sz="900">
                <a:solidFill>
                  <a:schemeClr val="dk1"/>
                </a:solidFill>
                <a:latin typeface="Times New Roman"/>
                <a:ea typeface="Times New Roman"/>
                <a:cs typeface="Times New Roman"/>
                <a:sym typeface="Times New Roman"/>
              </a:rPr>
              <a:t> because model can’t capture true pattern</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Arial"/>
              <a:buChar char="●"/>
            </a:pPr>
            <a:r>
              <a:rPr b="1" lang="en" sz="900">
                <a:solidFill>
                  <a:schemeClr val="dk1"/>
                </a:solidFill>
                <a:latin typeface="Times New Roman"/>
                <a:ea typeface="Times New Roman"/>
                <a:cs typeface="Times New Roman"/>
                <a:sym typeface="Times New Roman"/>
              </a:rPr>
              <a:t>Variance high</a:t>
            </a:r>
            <a:r>
              <a:rPr lang="en" sz="900">
                <a:solidFill>
                  <a:schemeClr val="dk1"/>
                </a:solidFill>
                <a:latin typeface="Times New Roman"/>
                <a:ea typeface="Times New Roman"/>
                <a:cs typeface="Times New Roman"/>
                <a:sym typeface="Times New Roman"/>
              </a:rPr>
              <a:t> because model output changes a lot with small data change</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 Happens in real life when:</a:t>
            </a:r>
            <a:br>
              <a:rPr lang="en" sz="900">
                <a:solidFill>
                  <a:schemeClr val="dk1"/>
                </a:solidFill>
                <a:latin typeface="Times New Roman"/>
                <a:ea typeface="Times New Roman"/>
                <a:cs typeface="Times New Roman"/>
                <a:sym typeface="Times New Roman"/>
              </a:rPr>
            </a:br>
            <a:r>
              <a:rPr lang="en" sz="900">
                <a:solidFill>
                  <a:schemeClr val="dk1"/>
                </a:solidFill>
                <a:latin typeface="Times New Roman"/>
                <a:ea typeface="Times New Roman"/>
                <a:cs typeface="Times New Roman"/>
                <a:sym typeface="Times New Roman"/>
              </a:rPr>
              <a:t> ✅ very small dataset</a:t>
            </a:r>
            <a:br>
              <a:rPr lang="en" sz="900">
                <a:solidFill>
                  <a:schemeClr val="dk1"/>
                </a:solidFill>
                <a:latin typeface="Times New Roman"/>
                <a:ea typeface="Times New Roman"/>
                <a:cs typeface="Times New Roman"/>
                <a:sym typeface="Times New Roman"/>
              </a:rPr>
            </a:br>
            <a:r>
              <a:rPr lang="en" sz="900">
                <a:solidFill>
                  <a:schemeClr val="dk1"/>
                </a:solidFill>
                <a:latin typeface="Times New Roman"/>
                <a:ea typeface="Times New Roman"/>
                <a:cs typeface="Times New Roman"/>
                <a:sym typeface="Times New Roman"/>
              </a:rPr>
              <a:t> ✅ too much noise</a:t>
            </a:r>
            <a:br>
              <a:rPr lang="en" sz="900">
                <a:solidFill>
                  <a:schemeClr val="dk1"/>
                </a:solidFill>
                <a:latin typeface="Times New Roman"/>
                <a:ea typeface="Times New Roman"/>
                <a:cs typeface="Times New Roman"/>
                <a:sym typeface="Times New Roman"/>
              </a:rPr>
            </a:br>
            <a:r>
              <a:rPr lang="en" sz="900">
                <a:solidFill>
                  <a:schemeClr val="dk1"/>
                </a:solidFill>
                <a:latin typeface="Times New Roman"/>
                <a:ea typeface="Times New Roman"/>
                <a:cs typeface="Times New Roman"/>
                <a:sym typeface="Times New Roman"/>
              </a:rPr>
              <a:t> ✅ wrong features</a:t>
            </a:r>
            <a:br>
              <a:rPr lang="en" sz="900">
                <a:solidFill>
                  <a:schemeClr val="dk1"/>
                </a:solidFill>
                <a:latin typeface="Times New Roman"/>
                <a:ea typeface="Times New Roman"/>
                <a:cs typeface="Times New Roman"/>
                <a:sym typeface="Times New Roman"/>
              </a:rPr>
            </a:br>
            <a:r>
              <a:rPr lang="en" sz="900">
                <a:solidFill>
                  <a:schemeClr val="dk1"/>
                </a:solidFill>
                <a:latin typeface="Times New Roman"/>
                <a:ea typeface="Times New Roman"/>
                <a:cs typeface="Times New Roman"/>
                <a:sym typeface="Times New Roman"/>
              </a:rPr>
              <a:t> ✅ wrong preprocessing</a:t>
            </a:r>
            <a:br>
              <a:rPr lang="en" sz="900">
                <a:solidFill>
                  <a:schemeClr val="dk1"/>
                </a:solidFill>
                <a:latin typeface="Times New Roman"/>
                <a:ea typeface="Times New Roman"/>
                <a:cs typeface="Times New Roman"/>
                <a:sym typeface="Times New Roman"/>
              </a:rPr>
            </a:br>
            <a:r>
              <a:rPr lang="en" sz="900">
                <a:solidFill>
                  <a:schemeClr val="dk1"/>
                </a:solidFill>
                <a:latin typeface="Times New Roman"/>
                <a:ea typeface="Times New Roman"/>
                <a:cs typeface="Times New Roman"/>
                <a:sym typeface="Times New Roman"/>
              </a:rPr>
              <a:t> ✅ bad hyperparameters (learning rate too high, unstable training)</a:t>
            </a:r>
            <a:endParaRPr sz="9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b="1" sz="9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3"/>
          <p:cNvSpPr txBox="1"/>
          <p:nvPr>
            <p:ph idx="1" type="body"/>
          </p:nvPr>
        </p:nvSpPr>
        <p:spPr>
          <a:xfrm>
            <a:off x="728644" y="268706"/>
            <a:ext cx="7930800" cy="4365300"/>
          </a:xfrm>
          <a:prstGeom prst="rect">
            <a:avLst/>
          </a:prstGeom>
        </p:spPr>
        <p:txBody>
          <a:bodyPr anchorCtr="0" anchor="t" bIns="34275" lIns="68575" spcFirstLastPara="1" rIns="68575" wrap="square" tIns="34275">
            <a:noAutofit/>
          </a:bodyPr>
          <a:lstStyle/>
          <a:p>
            <a:pPr indent="0" lvl="0" marL="0" rtl="0" algn="l">
              <a:lnSpc>
                <a:spcPct val="115000"/>
              </a:lnSpc>
              <a:spcBef>
                <a:spcPts val="14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Case 2: Wrong model for the problem + too flexible</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Example:</a:t>
            </a: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90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You choose a model that is “not suitable”</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34950" lvl="0" marL="3429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and you also tune it badly (too complex + not generalizing)</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800"/>
              <a:buFont typeface="Arial"/>
              <a:buNone/>
            </a:pPr>
            <a:r>
              <a:rPr b="1" lang="en" sz="1100">
                <a:solidFill>
                  <a:schemeClr val="dk1"/>
                </a:solidFill>
                <a:latin typeface="Times New Roman"/>
                <a:ea typeface="Times New Roman"/>
                <a:cs typeface="Times New Roman"/>
                <a:sym typeface="Times New Roman"/>
              </a:rPr>
              <a:t>✅ Quick summary (final)</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100">
                <a:solidFill>
                  <a:schemeClr val="dk1"/>
                </a:solidFill>
                <a:latin typeface="Times New Roman"/>
                <a:ea typeface="Times New Roman"/>
                <a:cs typeface="Times New Roman"/>
                <a:sym typeface="Times New Roman"/>
              </a:rPr>
              <a:t>✅ </a:t>
            </a:r>
            <a:r>
              <a:rPr b="1" lang="en" sz="1100">
                <a:solidFill>
                  <a:schemeClr val="dk1"/>
                </a:solidFill>
                <a:latin typeface="Times New Roman"/>
                <a:ea typeface="Times New Roman"/>
                <a:cs typeface="Times New Roman"/>
                <a:sym typeface="Times New Roman"/>
              </a:rPr>
              <a:t>Underfitting → High Bias + Low Variance</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a:t>
            </a:r>
            <a:r>
              <a:rPr b="1" lang="en" sz="1100">
                <a:solidFill>
                  <a:schemeClr val="dk1"/>
                </a:solidFill>
                <a:latin typeface="Times New Roman"/>
                <a:ea typeface="Times New Roman"/>
                <a:cs typeface="Times New Roman"/>
                <a:sym typeface="Times New Roman"/>
              </a:rPr>
              <a:t>Overfitting → Low Bias + High Variance</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a:t>
            </a:r>
            <a:r>
              <a:rPr b="1" lang="en" sz="1100">
                <a:solidFill>
                  <a:schemeClr val="dk1"/>
                </a:solidFill>
                <a:latin typeface="Times New Roman"/>
                <a:ea typeface="Times New Roman"/>
                <a:cs typeface="Times New Roman"/>
                <a:sym typeface="Times New Roman"/>
              </a:rPr>
              <a:t>Best / Generalized → Low Bias + Low Variance</a:t>
            </a:r>
            <a:br>
              <a:rPr b="1" lang="en" sz="1100">
                <a:solidFill>
                  <a:schemeClr val="dk1"/>
                </a:solidFill>
                <a:latin typeface="Times New Roman"/>
                <a:ea typeface="Times New Roman"/>
                <a:cs typeface="Times New Roman"/>
                <a:sym typeface="Times New Roman"/>
              </a:rPr>
            </a:br>
            <a:r>
              <a:rPr lang="en" sz="1100">
                <a:solidFill>
                  <a:schemeClr val="dk1"/>
                </a:solidFill>
                <a:latin typeface="Times New Roman"/>
                <a:ea typeface="Times New Roman"/>
                <a:cs typeface="Times New Roman"/>
                <a:sym typeface="Times New Roman"/>
              </a:rPr>
              <a:t> ✅ </a:t>
            </a:r>
            <a:r>
              <a:rPr b="1" lang="en" sz="1100">
                <a:solidFill>
                  <a:schemeClr val="dk1"/>
                </a:solidFill>
                <a:latin typeface="Times New Roman"/>
                <a:ea typeface="Times New Roman"/>
                <a:cs typeface="Times New Roman"/>
                <a:sym typeface="Times New Roman"/>
              </a:rPr>
              <a:t>Possible worst case → High Bias + High Variance</a:t>
            </a:r>
            <a:r>
              <a:rPr lang="en" sz="1100">
                <a:solidFill>
                  <a:schemeClr val="dk1"/>
                </a:solidFill>
                <a:latin typeface="Times New Roman"/>
                <a:ea typeface="Times New Roman"/>
                <a:cs typeface="Times New Roman"/>
                <a:sym typeface="Times New Roman"/>
              </a:rPr>
              <a:t> (rare but possible)</a:t>
            </a:r>
            <a:endParaRPr sz="11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b="1" sz="11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4"/>
          <p:cNvSpPr txBox="1"/>
          <p:nvPr>
            <p:ph idx="1" type="body"/>
          </p:nvPr>
        </p:nvSpPr>
        <p:spPr>
          <a:xfrm>
            <a:off x="728644" y="268706"/>
            <a:ext cx="7930800" cy="4365300"/>
          </a:xfrm>
          <a:prstGeom prst="rect">
            <a:avLst/>
          </a:prstGeom>
        </p:spPr>
        <p:txBody>
          <a:bodyPr anchorCtr="0" anchor="t" bIns="34275" lIns="68575" spcFirstLastPara="1" rIns="68575" wrap="square" tIns="34275">
            <a:noAutofit/>
          </a:bodyPr>
          <a:lstStyle/>
          <a:p>
            <a:pPr indent="0" lvl="0" marL="0" rtl="0" algn="l">
              <a:lnSpc>
                <a:spcPct val="115000"/>
              </a:lnSpc>
              <a:spcBef>
                <a:spcPts val="11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If Train = 80% and Test = 75% → is it generalized?</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a:t>
            </a:r>
            <a:r>
              <a:rPr b="1" lang="en" sz="1000">
                <a:solidFill>
                  <a:schemeClr val="dk1"/>
                </a:solidFill>
                <a:latin typeface="Times New Roman"/>
                <a:ea typeface="Times New Roman"/>
                <a:cs typeface="Times New Roman"/>
                <a:sym typeface="Times New Roman"/>
              </a:rPr>
              <a:t>Mostly YES</a:t>
            </a:r>
            <a:r>
              <a:rPr lang="en" sz="1000">
                <a:solidFill>
                  <a:schemeClr val="dk1"/>
                </a:solidFill>
                <a:latin typeface="Times New Roman"/>
                <a:ea typeface="Times New Roman"/>
                <a:cs typeface="Times New Roman"/>
                <a:sym typeface="Times New Roman"/>
              </a:rPr>
              <a:t>, it looks like a </a:t>
            </a:r>
            <a:r>
              <a:rPr b="1" lang="en" sz="1000">
                <a:solidFill>
                  <a:schemeClr val="dk1"/>
                </a:solidFill>
                <a:latin typeface="Times New Roman"/>
                <a:ea typeface="Times New Roman"/>
                <a:cs typeface="Times New Roman"/>
                <a:sym typeface="Times New Roman"/>
              </a:rPr>
              <a:t>generalized (good fit) model</a:t>
            </a:r>
            <a:r>
              <a:rPr lang="en" sz="1000">
                <a:solidFill>
                  <a:schemeClr val="dk1"/>
                </a:solidFill>
                <a:latin typeface="Times New Roman"/>
                <a:ea typeface="Times New Roman"/>
                <a:cs typeface="Times New Roman"/>
                <a:sym typeface="Times New Roman"/>
              </a:rPr>
              <a:t> because:</a:t>
            </a:r>
            <a:endParaRPr sz="1000">
              <a:solidFill>
                <a:schemeClr val="dk1"/>
              </a:solidFill>
              <a:latin typeface="Times New Roman"/>
              <a:ea typeface="Times New Roman"/>
              <a:cs typeface="Times New Roman"/>
              <a:sym typeface="Times New Roman"/>
            </a:endParaRPr>
          </a:p>
          <a:p>
            <a:pPr indent="-228600" lvl="0" marL="342900" rtl="0" algn="l">
              <a:lnSpc>
                <a:spcPct val="115000"/>
              </a:lnSpc>
              <a:spcBef>
                <a:spcPts val="90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Training accuracy is not too high</a:t>
            </a:r>
            <a:br>
              <a:rPr lang="en"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28600" lvl="0" marL="342900" rtl="0" algn="l">
              <a:lnSpc>
                <a:spcPct val="115000"/>
              </a:lnSpc>
              <a:spcBef>
                <a:spcPts val="0"/>
              </a:spcBef>
              <a:spcAft>
                <a:spcPts val="0"/>
              </a:spcAft>
              <a:buClr>
                <a:schemeClr val="dk1"/>
              </a:buClr>
              <a:buSzPts val="1000"/>
              <a:buFont typeface="Times New Roman"/>
              <a:buChar char="●"/>
            </a:pPr>
            <a:r>
              <a:rPr lang="en" sz="1000">
                <a:solidFill>
                  <a:schemeClr val="dk1"/>
                </a:solidFill>
                <a:latin typeface="Times New Roman"/>
                <a:ea typeface="Times New Roman"/>
                <a:cs typeface="Times New Roman"/>
                <a:sym typeface="Times New Roman"/>
              </a:rPr>
              <a:t>Testing accuracy is close to training</a:t>
            </a:r>
            <a:br>
              <a:rPr lang="en"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28600" lvl="0" marL="342900" rtl="0" algn="l">
              <a:lnSpc>
                <a:spcPct val="115000"/>
              </a:lnSpc>
              <a:spcBef>
                <a:spcPts val="0"/>
              </a:spcBef>
              <a:spcAft>
                <a:spcPts val="0"/>
              </a:spcAft>
              <a:buClr>
                <a:schemeClr val="dk1"/>
              </a:buClr>
              <a:buSzPts val="1000"/>
              <a:buFont typeface="Arial"/>
              <a:buChar char="●"/>
            </a:pPr>
            <a:r>
              <a:rPr lang="en" sz="1000">
                <a:solidFill>
                  <a:schemeClr val="dk1"/>
                </a:solidFill>
                <a:latin typeface="Times New Roman"/>
                <a:ea typeface="Times New Roman"/>
                <a:cs typeface="Times New Roman"/>
                <a:sym typeface="Times New Roman"/>
              </a:rPr>
              <a:t>Gap = </a:t>
            </a:r>
            <a:r>
              <a:rPr b="1" lang="en" sz="1000">
                <a:solidFill>
                  <a:schemeClr val="dk1"/>
                </a:solidFill>
                <a:latin typeface="Times New Roman"/>
                <a:ea typeface="Times New Roman"/>
                <a:cs typeface="Times New Roman"/>
                <a:sym typeface="Times New Roman"/>
              </a:rPr>
              <a:t>80 - 75 = 5%</a:t>
            </a:r>
            <a:r>
              <a:rPr lang="en" sz="1000">
                <a:solidFill>
                  <a:schemeClr val="dk1"/>
                </a:solidFill>
                <a:latin typeface="Times New Roman"/>
                <a:ea typeface="Times New Roman"/>
                <a:cs typeface="Times New Roman"/>
                <a:sym typeface="Times New Roman"/>
              </a:rPr>
              <a:t> (this is a small gap ✅)</a:t>
            </a:r>
            <a:br>
              <a:rPr lang="en"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a:t>
            </a:r>
            <a:r>
              <a:rPr b="1" lang="en" sz="1000">
                <a:solidFill>
                  <a:schemeClr val="dk1"/>
                </a:solidFill>
                <a:latin typeface="Times New Roman"/>
                <a:ea typeface="Times New Roman"/>
                <a:cs typeface="Times New Roman"/>
                <a:sym typeface="Times New Roman"/>
              </a:rPr>
              <a:t>Small gap = good generalization</a:t>
            </a:r>
            <a:br>
              <a:rPr b="1"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 Very big gap = overfitting</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 How much accuracy is “best fit model”?</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There is </a:t>
            </a:r>
            <a:r>
              <a:rPr b="1" lang="en" sz="1000">
                <a:solidFill>
                  <a:schemeClr val="dk1"/>
                </a:solidFill>
                <a:latin typeface="Times New Roman"/>
                <a:ea typeface="Times New Roman"/>
                <a:cs typeface="Times New Roman"/>
                <a:sym typeface="Times New Roman"/>
              </a:rPr>
              <a:t>no fixed number like 90% or 95%</a:t>
            </a:r>
            <a:r>
              <a:rPr lang="en" sz="1000">
                <a:solidFill>
                  <a:schemeClr val="dk1"/>
                </a:solidFill>
                <a:latin typeface="Times New Roman"/>
                <a:ea typeface="Times New Roman"/>
                <a:cs typeface="Times New Roman"/>
                <a:sym typeface="Times New Roman"/>
              </a:rPr>
              <a:t> for all problems.</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Best fit means:</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1000">
                <a:solidFill>
                  <a:schemeClr val="dk1"/>
                </a:solidFill>
                <a:latin typeface="Times New Roman"/>
                <a:ea typeface="Times New Roman"/>
                <a:cs typeface="Times New Roman"/>
                <a:sym typeface="Times New Roman"/>
              </a:rPr>
              <a:t>Train accuracy and Test accuracy should be close</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Example best-fit patterns:</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1000">
                <a:solidFill>
                  <a:schemeClr val="dk1"/>
                </a:solidFill>
                <a:latin typeface="Times New Roman"/>
                <a:ea typeface="Times New Roman"/>
                <a:cs typeface="Times New Roman"/>
                <a:sym typeface="Times New Roman"/>
              </a:rPr>
              <a:t>✅ 80% train, 78% test</a:t>
            </a:r>
            <a:br>
              <a:rPr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 92% train, 90% test</a:t>
            </a:r>
            <a:br>
              <a:rPr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 ✅ 70% train, 69% test</a:t>
            </a:r>
            <a:endParaRPr sz="10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b="1" sz="10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5"/>
          <p:cNvSpPr txBox="1"/>
          <p:nvPr>
            <p:ph idx="1" type="body"/>
          </p:nvPr>
        </p:nvSpPr>
        <p:spPr>
          <a:xfrm>
            <a:off x="728644" y="268706"/>
            <a:ext cx="7930800" cy="4365300"/>
          </a:xfrm>
          <a:prstGeom prst="rect">
            <a:avLst/>
          </a:prstGeom>
        </p:spPr>
        <p:txBody>
          <a:bodyPr anchorCtr="0" anchor="t" bIns="34275" lIns="68575" spcFirstLastPara="1" rIns="68575" wrap="square" tIns="34275">
            <a:noAutofit/>
          </a:bodyPr>
          <a:lstStyle/>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So “best” depends on:</a:t>
            </a: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90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dataset quality</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problem difficulty</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noise level</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number of classes</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business requirement</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800"/>
              <a:buFont typeface="Arial"/>
              <a:buNone/>
            </a:pPr>
            <a:r>
              <a:rPr b="1" lang="en" sz="900">
                <a:solidFill>
                  <a:schemeClr val="dk1"/>
                </a:solidFill>
                <a:latin typeface="Times New Roman"/>
                <a:ea typeface="Times New Roman"/>
                <a:cs typeface="Times New Roman"/>
                <a:sym typeface="Times New Roman"/>
              </a:rPr>
              <a:t>✅ Simple rule of thumb (easy)</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 sz="900">
                <a:solidFill>
                  <a:schemeClr val="dk1"/>
                </a:solidFill>
                <a:latin typeface="Times New Roman"/>
                <a:ea typeface="Times New Roman"/>
                <a:cs typeface="Times New Roman"/>
                <a:sym typeface="Times New Roman"/>
              </a:rPr>
              <a:t>✅ Best fit model usually has:</a:t>
            </a:r>
            <a:endParaRPr b="1" sz="900">
              <a:solidFill>
                <a:schemeClr val="dk1"/>
              </a:solidFill>
              <a:latin typeface="Times New Roman"/>
              <a:ea typeface="Times New Roman"/>
              <a:cs typeface="Times New Roman"/>
              <a:sym typeface="Times New Roman"/>
            </a:endParaRPr>
          </a:p>
          <a:p>
            <a:pPr indent="-222250" lvl="0" marL="342900" rtl="0" algn="l">
              <a:lnSpc>
                <a:spcPct val="115000"/>
              </a:lnSpc>
              <a:spcBef>
                <a:spcPts val="9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High test accuracy</a:t>
            </a:r>
            <a:br>
              <a:rPr b="1" lang="en" sz="900">
                <a:solidFill>
                  <a:schemeClr val="dk1"/>
                </a:solidFill>
                <a:latin typeface="Times New Roman"/>
                <a:ea typeface="Times New Roman"/>
                <a:cs typeface="Times New Roman"/>
                <a:sym typeface="Times New Roman"/>
              </a:rPr>
            </a:br>
            <a:endParaRPr b="1"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Small train-test gap</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rPr lang="en" sz="900">
                <a:solidFill>
                  <a:schemeClr val="dk1"/>
                </a:solidFill>
                <a:latin typeface="Times New Roman"/>
                <a:ea typeface="Times New Roman"/>
                <a:cs typeface="Times New Roman"/>
                <a:sym typeface="Times New Roman"/>
              </a:rPr>
              <a:t>📌 Gap guidelines (roughly):</a:t>
            </a:r>
            <a:endParaRPr sz="900">
              <a:solidFill>
                <a:schemeClr val="dk1"/>
              </a:solidFill>
              <a:latin typeface="Times New Roman"/>
              <a:ea typeface="Times New Roman"/>
              <a:cs typeface="Times New Roman"/>
              <a:sym typeface="Times New Roman"/>
            </a:endParaRPr>
          </a:p>
          <a:p>
            <a:pPr indent="-222250" lvl="0" marL="342900" rtl="0" algn="l">
              <a:lnSpc>
                <a:spcPct val="115000"/>
              </a:lnSpc>
              <a:spcBef>
                <a:spcPts val="9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0% to 5% gap → Excellent</a:t>
            </a:r>
            <a:br>
              <a:rPr b="1" lang="en" sz="900">
                <a:solidFill>
                  <a:schemeClr val="dk1"/>
                </a:solidFill>
                <a:latin typeface="Times New Roman"/>
                <a:ea typeface="Times New Roman"/>
                <a:cs typeface="Times New Roman"/>
                <a:sym typeface="Times New Roman"/>
              </a:rPr>
            </a:br>
            <a:endParaRPr b="1"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5% to 10% gap → Acceptable</a:t>
            </a:r>
            <a:br>
              <a:rPr b="1" lang="en" sz="900">
                <a:solidFill>
                  <a:schemeClr val="dk1"/>
                </a:solidFill>
                <a:latin typeface="Times New Roman"/>
                <a:ea typeface="Times New Roman"/>
                <a:cs typeface="Times New Roman"/>
                <a:sym typeface="Times New Roman"/>
              </a:rPr>
            </a:br>
            <a:endParaRPr b="1"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10%+ gap → likely Overfitting</a:t>
            </a:r>
            <a:br>
              <a:rPr b="1" lang="en" sz="900">
                <a:solidFill>
                  <a:schemeClr val="dk1"/>
                </a:solidFill>
                <a:latin typeface="Times New Roman"/>
                <a:ea typeface="Times New Roman"/>
                <a:cs typeface="Times New Roman"/>
                <a:sym typeface="Times New Roman"/>
              </a:rPr>
            </a:br>
            <a:endParaRPr b="1" sz="900">
              <a:solidFill>
                <a:schemeClr val="dk1"/>
              </a:solidFill>
              <a:latin typeface="Times New Roman"/>
              <a:ea typeface="Times New Roman"/>
              <a:cs typeface="Times New Roman"/>
              <a:sym typeface="Times New Roman"/>
            </a:endParaRPr>
          </a:p>
          <a:p>
            <a:pPr indent="-222250" lvl="0" marL="3429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Both low (ex: 60% train, 58% test) → Underfitting</a:t>
            </a:r>
            <a:endParaRPr b="1" sz="900">
              <a:solidFill>
                <a:schemeClr val="dk1"/>
              </a:solidFill>
              <a:latin typeface="Times New Roman"/>
              <a:ea typeface="Times New Roman"/>
              <a:cs typeface="Times New Roman"/>
              <a:sym typeface="Times New Roman"/>
            </a:endParaRPr>
          </a:p>
          <a:p>
            <a:pPr indent="0" lvl="0" marL="0" rtl="0" algn="l">
              <a:spcBef>
                <a:spcPts val="900"/>
              </a:spcBef>
              <a:spcAft>
                <a:spcPts val="0"/>
              </a:spcAft>
              <a:buNone/>
            </a:pPr>
            <a:r>
              <a:t/>
            </a:r>
            <a:endParaRPr b="1" sz="9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6"/>
          <p:cNvSpPr txBox="1"/>
          <p:nvPr>
            <p:ph type="title"/>
          </p:nvPr>
        </p:nvSpPr>
        <p:spPr>
          <a:xfrm>
            <a:off x="1028700" y="514350"/>
            <a:ext cx="7200900" cy="288000"/>
          </a:xfrm>
          <a:prstGeom prst="rect">
            <a:avLst/>
          </a:prstGeom>
          <a:noFill/>
          <a:ln>
            <a:noFill/>
          </a:ln>
        </p:spPr>
        <p:txBody>
          <a:bodyPr anchorCtr="0" anchor="t" bIns="34275" lIns="68575" spcFirstLastPara="1" rIns="68575" wrap="square" tIns="34275">
            <a:norm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For Regression</a:t>
            </a:r>
            <a:endParaRPr/>
          </a:p>
        </p:txBody>
      </p:sp>
      <p:sp>
        <p:nvSpPr>
          <p:cNvPr id="365" name="Google Shape;365;p66"/>
          <p:cNvSpPr txBox="1"/>
          <p:nvPr>
            <p:ph idx="1" type="body"/>
          </p:nvPr>
        </p:nvSpPr>
        <p:spPr>
          <a:xfrm>
            <a:off x="1028700" y="802256"/>
            <a:ext cx="7200900" cy="3598200"/>
          </a:xfrm>
          <a:prstGeom prst="rect">
            <a:avLst/>
          </a:prstGeom>
          <a:noFill/>
          <a:ln>
            <a:noFill/>
          </a:ln>
        </p:spPr>
        <p:txBody>
          <a:bodyPr anchorCtr="0" anchor="t" bIns="34275" lIns="68575" spcFirstLastPara="1" rIns="68575" wrap="square" tIns="34275">
            <a:normAutofit/>
          </a:bodyPr>
          <a:lstStyle/>
          <a:p>
            <a:pPr indent="-292100" lvl="0" marL="292100" rtl="0" algn="l">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Mean Squared Error (MSE): </a:t>
            </a:r>
            <a:r>
              <a:rPr lang="en" sz="1200">
                <a:latin typeface="Times New Roman"/>
                <a:ea typeface="Times New Roman"/>
                <a:cs typeface="Times New Roman"/>
                <a:sym typeface="Times New Roman"/>
              </a:rPr>
              <a:t>MSE measures the average squared difference between the predicted values and the actual values. Lower MSE values indicate better model performance.</a:t>
            </a:r>
            <a:endParaRPr/>
          </a:p>
          <a:p>
            <a:pPr indent="-292100" lvl="1" marL="685800" rtl="0" algn="l">
              <a:lnSpc>
                <a:spcPct val="150000"/>
              </a:lnSpc>
              <a:spcBef>
                <a:spcPts val="5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measures: MSE</a:t>
            </a:r>
            <a:r>
              <a:rPr lang="en" sz="1200">
                <a:latin typeface="Times New Roman"/>
                <a:ea typeface="Times New Roman"/>
                <a:cs typeface="Times New Roman"/>
                <a:sym typeface="Times New Roman"/>
              </a:rPr>
              <a:t> calculates the average of the </a:t>
            </a:r>
            <a:r>
              <a:rPr b="1" lang="en" sz="1200">
                <a:latin typeface="Times New Roman"/>
                <a:ea typeface="Times New Roman"/>
                <a:cs typeface="Times New Roman"/>
                <a:sym typeface="Times New Roman"/>
              </a:rPr>
              <a:t>squared</a:t>
            </a:r>
            <a:r>
              <a:rPr lang="en" sz="1200">
                <a:latin typeface="Times New Roman"/>
                <a:ea typeface="Times New Roman"/>
                <a:cs typeface="Times New Roman"/>
                <a:sym typeface="Times New Roman"/>
              </a:rPr>
              <a:t> difference between the </a:t>
            </a:r>
            <a:r>
              <a:rPr b="1" lang="en" sz="1200">
                <a:latin typeface="Times New Roman"/>
                <a:ea typeface="Times New Roman"/>
                <a:cs typeface="Times New Roman"/>
                <a:sym typeface="Times New Roman"/>
              </a:rPr>
              <a:t>predicted values and the actual values.</a:t>
            </a:r>
            <a:endParaRPr/>
          </a:p>
          <a:p>
            <a:pPr indent="-292100" lvl="1" marL="685800" rtl="0" algn="l">
              <a:lnSpc>
                <a:spcPct val="150000"/>
              </a:lnSpc>
              <a:spcBef>
                <a:spcPts val="5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 </a:t>
            </a:r>
            <a:r>
              <a:rPr lang="en" sz="1200">
                <a:latin typeface="Times New Roman"/>
                <a:ea typeface="Times New Roman"/>
                <a:cs typeface="Times New Roman"/>
                <a:sym typeface="Times New Roman"/>
              </a:rPr>
              <a:t>A lower MSE indicates that the model’s predictions are closer to the actual values.  It penalizes larger errors more because of the squaring.</a:t>
            </a:r>
            <a:endParaRPr/>
          </a:p>
          <a:p>
            <a:pPr indent="-292100" lvl="1" marL="685800" rtl="0" algn="l">
              <a:lnSpc>
                <a:spcPct val="150000"/>
              </a:lnSpc>
              <a:spcBef>
                <a:spcPts val="5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FORMULA:</a:t>
            </a:r>
            <a:endParaRPr/>
          </a:p>
          <a:p>
            <a:pPr indent="0" lvl="1" marL="393700" rtl="0" algn="l">
              <a:lnSpc>
                <a:spcPct val="150000"/>
              </a:lnSpc>
              <a:spcBef>
                <a:spcPts val="500"/>
              </a:spcBef>
              <a:spcAft>
                <a:spcPts val="0"/>
              </a:spcAft>
              <a:buClr>
                <a:schemeClr val="dk2"/>
              </a:buClr>
              <a:buSzPts val="1200"/>
              <a:buNone/>
            </a:pPr>
            <a:r>
              <a:rPr b="1" lang="en" sz="1200">
                <a:latin typeface="Times New Roman"/>
                <a:ea typeface="Times New Roman"/>
                <a:cs typeface="Times New Roman"/>
                <a:sym typeface="Times New Roman"/>
              </a:rPr>
              <a:t>			</a:t>
            </a:r>
            <a:endParaRPr/>
          </a:p>
          <a:p>
            <a:pPr indent="0" lvl="1" marL="393700" rtl="0" algn="l">
              <a:lnSpc>
                <a:spcPct val="150000"/>
              </a:lnSpc>
              <a:spcBef>
                <a:spcPts val="500"/>
              </a:spcBef>
              <a:spcAft>
                <a:spcPts val="0"/>
              </a:spcAft>
              <a:buClr>
                <a:schemeClr val="dk2"/>
              </a:buClr>
              <a:buSzPts val="1400"/>
              <a:buNone/>
            </a:pPr>
            <a:r>
              <a:t/>
            </a:r>
            <a:endParaRPr b="1" i="0" sz="1400">
              <a:latin typeface="Times New Roman"/>
              <a:ea typeface="Times New Roman"/>
              <a:cs typeface="Times New Roman"/>
              <a:sym typeface="Times New Roman"/>
            </a:endParaRPr>
          </a:p>
          <a:p>
            <a:pPr indent="0" lvl="1" marL="393700" rtl="0" algn="l">
              <a:lnSpc>
                <a:spcPct val="150000"/>
              </a:lnSpc>
              <a:spcBef>
                <a:spcPts val="500"/>
              </a:spcBef>
              <a:spcAft>
                <a:spcPts val="0"/>
              </a:spcAft>
              <a:buClr>
                <a:schemeClr val="dk2"/>
              </a:buClr>
              <a:buSzPts val="1200"/>
              <a:buNone/>
            </a:pPr>
            <a:r>
              <a:rPr lang="en" sz="1200"/>
              <a:t>	where y^i\hat{y}_iy^​i​ is the predicted value, yiy_iyi​ is the actual value, and nnn is the number of observations.</a:t>
            </a:r>
            <a:endParaRPr b="1" i="0" sz="1400">
              <a:latin typeface="Times New Roman"/>
              <a:ea typeface="Times New Roman"/>
              <a:cs typeface="Times New Roman"/>
              <a:sym typeface="Times New Roman"/>
            </a:endParaRPr>
          </a:p>
        </p:txBody>
      </p:sp>
      <p:pic>
        <p:nvPicPr>
          <p:cNvPr id="366" name="Google Shape;366;p66"/>
          <p:cNvPicPr preferRelativeResize="0"/>
          <p:nvPr/>
        </p:nvPicPr>
        <p:blipFill rotWithShape="1">
          <a:blip r:embed="rId3">
            <a:alphaModFix/>
          </a:blip>
          <a:srcRect b="0" l="0" r="0" t="0"/>
          <a:stretch/>
        </p:blipFill>
        <p:spPr>
          <a:xfrm>
            <a:off x="3780802" y="2927696"/>
            <a:ext cx="2100556" cy="73590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7"/>
          <p:cNvSpPr txBox="1"/>
          <p:nvPr>
            <p:ph idx="1" type="body"/>
          </p:nvPr>
        </p:nvSpPr>
        <p:spPr>
          <a:xfrm>
            <a:off x="1028700" y="251460"/>
            <a:ext cx="7200900" cy="4149000"/>
          </a:xfrm>
          <a:prstGeom prst="rect">
            <a:avLst/>
          </a:prstGeom>
          <a:noFill/>
          <a:ln>
            <a:noFill/>
          </a:ln>
        </p:spPr>
        <p:txBody>
          <a:bodyPr anchorCtr="0" anchor="t" bIns="34275" lIns="68575" spcFirstLastPara="1" rIns="68575" wrap="square" tIns="34275">
            <a:normAutofit/>
          </a:bodyPr>
          <a:lstStyle/>
          <a:p>
            <a:pPr indent="-292100" lvl="0" marL="292100" rtl="0" algn="l">
              <a:lnSpc>
                <a:spcPct val="150000"/>
              </a:lnSpc>
              <a:spcBef>
                <a:spcPts val="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Root Mean Squared Error (RMSE)</a:t>
            </a:r>
            <a:r>
              <a:rPr lang="en" sz="1400">
                <a:latin typeface="Times New Roman"/>
                <a:ea typeface="Times New Roman"/>
                <a:cs typeface="Times New Roman"/>
                <a:sym typeface="Times New Roman"/>
              </a:rPr>
              <a:t>: RMSE is the square root of MSE, representing the standard deviation of the prediction errors. Similar to MSE, lower RMSE values indicate better model performance.</a:t>
            </a:r>
            <a:endParaRPr/>
          </a:p>
          <a:p>
            <a:pPr indent="-292100" lvl="1" marL="685800" rtl="0" algn="l">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What it measures</a:t>
            </a:r>
            <a:r>
              <a:rPr lang="en" sz="1400">
                <a:latin typeface="Times New Roman"/>
                <a:ea typeface="Times New Roman"/>
                <a:cs typeface="Times New Roman"/>
                <a:sym typeface="Times New Roman"/>
              </a:rPr>
              <a:t>: RMSE is a square root of the MSE.  It provides a measure of the </a:t>
            </a:r>
            <a:r>
              <a:rPr b="1" lang="en" sz="1400">
                <a:latin typeface="Times New Roman"/>
                <a:ea typeface="Times New Roman"/>
                <a:cs typeface="Times New Roman"/>
                <a:sym typeface="Times New Roman"/>
              </a:rPr>
              <a:t>standard deviation</a:t>
            </a:r>
            <a:r>
              <a:rPr lang="en" sz="1400">
                <a:latin typeface="Times New Roman"/>
                <a:ea typeface="Times New Roman"/>
                <a:cs typeface="Times New Roman"/>
                <a:sym typeface="Times New Roman"/>
              </a:rPr>
              <a:t> of the prediction errors.</a:t>
            </a:r>
            <a:endParaRPr/>
          </a:p>
          <a:p>
            <a:pPr indent="-292100" lvl="1" marL="685800" rtl="0" algn="l">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How to interpret</a:t>
            </a:r>
            <a:r>
              <a:rPr lang="en" sz="1400">
                <a:latin typeface="Times New Roman"/>
                <a:ea typeface="Times New Roman"/>
                <a:cs typeface="Times New Roman"/>
                <a:sym typeface="Times New Roman"/>
              </a:rPr>
              <a:t>: Like MSE, a lower RMSE indicates better model performance. It has the same unit as the target variables, making it easier to interpret.</a:t>
            </a:r>
            <a:endParaRPr/>
          </a:p>
          <a:p>
            <a:pPr indent="-292100" lvl="1" marL="685800" rtl="0" algn="l">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Formula:</a:t>
            </a:r>
            <a:endParaRPr/>
          </a:p>
          <a:p>
            <a:pPr indent="0" lvl="1" marL="393700" rtl="0" algn="l">
              <a:lnSpc>
                <a:spcPct val="150000"/>
              </a:lnSpc>
              <a:spcBef>
                <a:spcPts val="500"/>
              </a:spcBef>
              <a:spcAft>
                <a:spcPts val="0"/>
              </a:spcAft>
              <a:buClr>
                <a:schemeClr val="dk2"/>
              </a:buClr>
              <a:buSzPts val="1500"/>
              <a:buNone/>
            </a:pPr>
            <a:r>
              <a:rPr lang="en">
                <a:latin typeface="Times New Roman"/>
                <a:ea typeface="Times New Roman"/>
                <a:cs typeface="Times New Roman"/>
                <a:sym typeface="Times New Roman"/>
              </a:rPr>
              <a:t>		</a:t>
            </a:r>
            <a:endParaRPr/>
          </a:p>
          <a:p>
            <a:pPr indent="0" lvl="0" marL="0" rtl="0" algn="l">
              <a:lnSpc>
                <a:spcPct val="94000"/>
              </a:lnSpc>
              <a:spcBef>
                <a:spcPts val="900"/>
              </a:spcBef>
              <a:spcAft>
                <a:spcPts val="0"/>
              </a:spcAft>
              <a:buClr>
                <a:schemeClr val="dk2"/>
              </a:buClr>
              <a:buSzPts val="1500"/>
              <a:buNone/>
            </a:pPr>
            <a:r>
              <a:t/>
            </a:r>
            <a:endParaRPr/>
          </a:p>
        </p:txBody>
      </p:sp>
      <p:pic>
        <p:nvPicPr>
          <p:cNvPr id="372" name="Google Shape;372;p67"/>
          <p:cNvPicPr preferRelativeResize="0"/>
          <p:nvPr/>
        </p:nvPicPr>
        <p:blipFill rotWithShape="1">
          <a:blip r:embed="rId3">
            <a:alphaModFix/>
          </a:blip>
          <a:srcRect b="0" l="0" r="0" t="0"/>
          <a:stretch/>
        </p:blipFill>
        <p:spPr>
          <a:xfrm>
            <a:off x="3282682" y="3522317"/>
            <a:ext cx="2039480" cy="52390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8"/>
          <p:cNvSpPr txBox="1"/>
          <p:nvPr>
            <p:ph idx="1" type="body"/>
          </p:nvPr>
        </p:nvSpPr>
        <p:spPr>
          <a:xfrm>
            <a:off x="1074420" y="495300"/>
            <a:ext cx="7193400" cy="41604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Mean Absolute Error (MAE)</a:t>
            </a:r>
            <a:r>
              <a:rPr lang="en" sz="1400">
                <a:latin typeface="Times New Roman"/>
                <a:ea typeface="Times New Roman"/>
                <a:cs typeface="Times New Roman"/>
                <a:sym typeface="Times New Roman"/>
              </a:rPr>
              <a:t>: MAE measures the average absolute difference between the predicted values and the actual values. It is less sensitive to outliers compared to MSE or RMSE.</a:t>
            </a:r>
            <a:endParaRPr/>
          </a:p>
          <a:p>
            <a:pPr indent="-292100" lvl="1" marL="685800" rtl="0" algn="just">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What it measures</a:t>
            </a:r>
            <a:r>
              <a:rPr lang="en" sz="1400">
                <a:latin typeface="Times New Roman"/>
                <a:ea typeface="Times New Roman"/>
                <a:cs typeface="Times New Roman"/>
                <a:sym typeface="Times New Roman"/>
              </a:rPr>
              <a:t>: MAE calculates the average of the absolute differences between the </a:t>
            </a:r>
            <a:r>
              <a:rPr b="1" lang="en" sz="1400">
                <a:latin typeface="Times New Roman"/>
                <a:ea typeface="Times New Roman"/>
                <a:cs typeface="Times New Roman"/>
                <a:sym typeface="Times New Roman"/>
              </a:rPr>
              <a:t>predicted values </a:t>
            </a:r>
            <a:r>
              <a:rPr lang="en" sz="1400">
                <a:latin typeface="Times New Roman"/>
                <a:ea typeface="Times New Roman"/>
                <a:cs typeface="Times New Roman"/>
                <a:sym typeface="Times New Roman"/>
              </a:rPr>
              <a:t>and the </a:t>
            </a:r>
            <a:r>
              <a:rPr b="1" lang="en" sz="1400">
                <a:latin typeface="Times New Roman"/>
                <a:ea typeface="Times New Roman"/>
                <a:cs typeface="Times New Roman"/>
                <a:sym typeface="Times New Roman"/>
              </a:rPr>
              <a:t>actual values..</a:t>
            </a:r>
            <a:endParaRPr/>
          </a:p>
          <a:p>
            <a:pPr indent="-292100" lvl="1" marL="685800" rtl="0" algn="just">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How to interpret</a:t>
            </a:r>
            <a:r>
              <a:rPr lang="en" sz="1400">
                <a:latin typeface="Times New Roman"/>
                <a:ea typeface="Times New Roman"/>
                <a:cs typeface="Times New Roman"/>
                <a:sym typeface="Times New Roman"/>
              </a:rPr>
              <a:t>: A lower MAE indicates better model performance. It is </a:t>
            </a:r>
            <a:r>
              <a:rPr b="1" lang="en" sz="1400">
                <a:latin typeface="Times New Roman"/>
                <a:ea typeface="Times New Roman"/>
                <a:cs typeface="Times New Roman"/>
                <a:sym typeface="Times New Roman"/>
              </a:rPr>
              <a:t>less sensitive </a:t>
            </a:r>
            <a:r>
              <a:rPr lang="en" sz="1400">
                <a:latin typeface="Times New Roman"/>
                <a:ea typeface="Times New Roman"/>
                <a:cs typeface="Times New Roman"/>
                <a:sym typeface="Times New Roman"/>
              </a:rPr>
              <a:t>to </a:t>
            </a:r>
            <a:r>
              <a:rPr b="1" lang="en" sz="1400">
                <a:latin typeface="Times New Roman"/>
                <a:ea typeface="Times New Roman"/>
                <a:cs typeface="Times New Roman"/>
                <a:sym typeface="Times New Roman"/>
              </a:rPr>
              <a:t>outliers</a:t>
            </a:r>
            <a:r>
              <a:rPr lang="en" sz="1400">
                <a:latin typeface="Times New Roman"/>
                <a:ea typeface="Times New Roman"/>
                <a:cs typeface="Times New Roman"/>
                <a:sym typeface="Times New Roman"/>
              </a:rPr>
              <a:t> compared to MSE and RMSE because it doesn't square the errors.</a:t>
            </a:r>
            <a:endParaRPr/>
          </a:p>
          <a:p>
            <a:pPr indent="-292100" lvl="1" marL="685800" rtl="0" algn="just">
              <a:lnSpc>
                <a:spcPct val="150000"/>
              </a:lnSpc>
              <a:spcBef>
                <a:spcPts val="500"/>
              </a:spcBef>
              <a:spcAft>
                <a:spcPts val="0"/>
              </a:spcAft>
              <a:buClr>
                <a:schemeClr val="dk2"/>
              </a:buClr>
              <a:buSzPts val="1400"/>
              <a:buFont typeface="Noto Sans Symbols"/>
              <a:buChar char="⮚"/>
            </a:pPr>
            <a:r>
              <a:rPr b="1" lang="en" sz="1400">
                <a:latin typeface="Times New Roman"/>
                <a:ea typeface="Times New Roman"/>
                <a:cs typeface="Times New Roman"/>
                <a:sym typeface="Times New Roman"/>
              </a:rPr>
              <a:t>Formula:</a:t>
            </a:r>
            <a:endParaRPr/>
          </a:p>
          <a:p>
            <a:pPr indent="-215900" lvl="1" marL="685800" rtl="0" algn="just">
              <a:lnSpc>
                <a:spcPct val="150000"/>
              </a:lnSpc>
              <a:spcBef>
                <a:spcPts val="500"/>
              </a:spcBef>
              <a:spcAft>
                <a:spcPts val="0"/>
              </a:spcAft>
              <a:buClr>
                <a:schemeClr val="dk2"/>
              </a:buClr>
              <a:buSzPts val="1200"/>
              <a:buFont typeface="Noto Sans Symbols"/>
              <a:buNone/>
            </a:pPr>
            <a:r>
              <a:t/>
            </a:r>
            <a:endParaRPr b="1" sz="1200">
              <a:latin typeface="Times New Roman"/>
              <a:ea typeface="Times New Roman"/>
              <a:cs typeface="Times New Roman"/>
              <a:sym typeface="Times New Roman"/>
            </a:endParaRPr>
          </a:p>
          <a:p>
            <a:pPr indent="-215900" lvl="1" marL="685800" rtl="0" algn="just">
              <a:lnSpc>
                <a:spcPct val="150000"/>
              </a:lnSpc>
              <a:spcBef>
                <a:spcPts val="5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500"/>
              <a:buNone/>
            </a:pPr>
            <a:r>
              <a:t/>
            </a:r>
            <a:endParaRPr/>
          </a:p>
        </p:txBody>
      </p:sp>
      <p:pic>
        <p:nvPicPr>
          <p:cNvPr id="378" name="Google Shape;378;p68"/>
          <p:cNvPicPr preferRelativeResize="0"/>
          <p:nvPr/>
        </p:nvPicPr>
        <p:blipFill rotWithShape="1">
          <a:blip r:embed="rId3">
            <a:alphaModFix/>
          </a:blip>
          <a:srcRect b="0" l="0" r="0" t="0"/>
          <a:stretch/>
        </p:blipFill>
        <p:spPr>
          <a:xfrm>
            <a:off x="3588631" y="3049370"/>
            <a:ext cx="2164858" cy="84308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9"/>
          <p:cNvSpPr txBox="1"/>
          <p:nvPr>
            <p:ph idx="1" type="body"/>
          </p:nvPr>
        </p:nvSpPr>
        <p:spPr>
          <a:xfrm>
            <a:off x="689194" y="137831"/>
            <a:ext cx="8335500" cy="3264600"/>
          </a:xfrm>
          <a:prstGeom prst="rect">
            <a:avLst/>
          </a:prstGeom>
          <a:noFill/>
          <a:ln>
            <a:noFill/>
          </a:ln>
        </p:spPr>
        <p:txBody>
          <a:bodyPr anchorCtr="0" anchor="t" bIns="34275" lIns="68575" spcFirstLastPara="1" rIns="68575" wrap="square" tIns="34275">
            <a:normAutofit fontScale="85000"/>
          </a:bodyPr>
          <a:lstStyle/>
          <a:p>
            <a:pPr indent="-291465" lvl="0" marL="292100" rtl="0" algn="l">
              <a:lnSpc>
                <a:spcPct val="150000"/>
              </a:lnSpc>
              <a:spcBef>
                <a:spcPts val="0"/>
              </a:spcBef>
              <a:spcAft>
                <a:spcPts val="0"/>
              </a:spcAft>
              <a:buClr>
                <a:schemeClr val="dk2"/>
              </a:buClr>
              <a:buSzPct val="100000"/>
              <a:buFont typeface="Noto Sans Symbols"/>
              <a:buChar char="⮚"/>
            </a:pPr>
            <a:r>
              <a:rPr b="1" lang="en" sz="1400">
                <a:latin typeface="Times New Roman"/>
                <a:ea typeface="Times New Roman"/>
                <a:cs typeface="Times New Roman"/>
                <a:sym typeface="Times New Roman"/>
              </a:rPr>
              <a:t>R-squared (Coefficient of Determination): </a:t>
            </a:r>
            <a:r>
              <a:rPr lang="en" sz="1400">
                <a:latin typeface="Times New Roman"/>
                <a:ea typeface="Times New Roman"/>
                <a:cs typeface="Times New Roman"/>
                <a:sym typeface="Times New Roman"/>
              </a:rPr>
              <a:t>R-squared measures the proportion of the variance in the target variable that is explained by the model. Higher R-squared values indicate better model fit.</a:t>
            </a:r>
            <a:endParaRPr sz="1400">
              <a:latin typeface="Times New Roman"/>
              <a:ea typeface="Times New Roman"/>
              <a:cs typeface="Times New Roman"/>
              <a:sym typeface="Times New Roman"/>
            </a:endParaRPr>
          </a:p>
          <a:p>
            <a:pPr indent="-278765" lvl="1" marL="685800" rtl="0" algn="l">
              <a:lnSpc>
                <a:spcPct val="150000"/>
              </a:lnSpc>
              <a:spcBef>
                <a:spcPts val="500"/>
              </a:spcBef>
              <a:spcAft>
                <a:spcPts val="0"/>
              </a:spcAft>
              <a:buClr>
                <a:schemeClr val="dk2"/>
              </a:buClr>
              <a:buSzPct val="100000"/>
              <a:buFont typeface="Noto Sans Symbols"/>
              <a:buChar char="⮚"/>
            </a:pPr>
            <a:r>
              <a:rPr b="1" lang="en" sz="1400">
                <a:latin typeface="Times New Roman"/>
                <a:ea typeface="Times New Roman"/>
                <a:cs typeface="Times New Roman"/>
                <a:sym typeface="Times New Roman"/>
              </a:rPr>
              <a:t>What it measures: </a:t>
            </a:r>
            <a:r>
              <a:rPr lang="en" sz="1400">
                <a:latin typeface="Times New Roman"/>
                <a:ea typeface="Times New Roman"/>
                <a:cs typeface="Times New Roman"/>
                <a:sym typeface="Times New Roman"/>
              </a:rPr>
              <a:t>R-squared indicates the proportion of the variance in the target variable that is explained by the model.</a:t>
            </a:r>
            <a:endParaRPr/>
          </a:p>
          <a:p>
            <a:pPr indent="-278765" lvl="1" marL="685800" rtl="0" algn="l">
              <a:lnSpc>
                <a:spcPct val="150000"/>
              </a:lnSpc>
              <a:spcBef>
                <a:spcPts val="500"/>
              </a:spcBef>
              <a:spcAft>
                <a:spcPts val="0"/>
              </a:spcAft>
              <a:buClr>
                <a:schemeClr val="dk2"/>
              </a:buClr>
              <a:buSzPct val="100000"/>
              <a:buFont typeface="Noto Sans Symbols"/>
              <a:buChar char="⮚"/>
            </a:pPr>
            <a:r>
              <a:rPr b="1" lang="en" sz="1400">
                <a:latin typeface="Times New Roman"/>
                <a:ea typeface="Times New Roman"/>
                <a:cs typeface="Times New Roman"/>
                <a:sym typeface="Times New Roman"/>
              </a:rPr>
              <a:t>How to interpret</a:t>
            </a:r>
            <a:r>
              <a:rPr lang="en" sz="1400">
                <a:latin typeface="Times New Roman"/>
                <a:ea typeface="Times New Roman"/>
                <a:cs typeface="Times New Roman"/>
                <a:sym typeface="Times New Roman"/>
              </a:rPr>
              <a:t>: Higher R-squared values (closer to 1) indicate a better fit of the model to the data. It ranges from 0 to 1, where 1 means perfect prediction.</a:t>
            </a:r>
            <a:endParaRPr/>
          </a:p>
          <a:p>
            <a:pPr indent="-278765" lvl="1" marL="685800" rtl="0" algn="l">
              <a:lnSpc>
                <a:spcPct val="150000"/>
              </a:lnSpc>
              <a:spcBef>
                <a:spcPts val="500"/>
              </a:spcBef>
              <a:spcAft>
                <a:spcPts val="0"/>
              </a:spcAft>
              <a:buClr>
                <a:schemeClr val="dk2"/>
              </a:buClr>
              <a:buSzPct val="100000"/>
              <a:buFont typeface="Noto Sans Symbols"/>
              <a:buChar char="⮚"/>
            </a:pPr>
            <a:r>
              <a:rPr b="1" lang="en" sz="1400">
                <a:latin typeface="Times New Roman"/>
                <a:ea typeface="Times New Roman"/>
                <a:cs typeface="Times New Roman"/>
                <a:sym typeface="Times New Roman"/>
              </a:rPr>
              <a:t>Formula:</a:t>
            </a:r>
            <a:endParaRPr/>
          </a:p>
          <a:p>
            <a:pPr indent="-203200" lvl="1" marL="685800" rtl="0" algn="l">
              <a:lnSpc>
                <a:spcPct val="150000"/>
              </a:lnSpc>
              <a:spcBef>
                <a:spcPts val="500"/>
              </a:spcBef>
              <a:spcAft>
                <a:spcPts val="0"/>
              </a:spcAft>
              <a:buClr>
                <a:schemeClr val="dk2"/>
              </a:buClr>
              <a:buSzPct val="100000"/>
              <a:buFont typeface="Noto Sans Symbols"/>
              <a:buNone/>
            </a:pPr>
            <a:r>
              <a:t/>
            </a:r>
            <a:endParaRPr b="1" sz="1400">
              <a:latin typeface="Times New Roman"/>
              <a:ea typeface="Times New Roman"/>
              <a:cs typeface="Times New Roman"/>
              <a:sym typeface="Times New Roman"/>
            </a:endParaRPr>
          </a:p>
          <a:p>
            <a:pPr indent="-203200" lvl="1" marL="685800" rtl="0" algn="l">
              <a:lnSpc>
                <a:spcPct val="150000"/>
              </a:lnSpc>
              <a:spcBef>
                <a:spcPts val="500"/>
              </a:spcBef>
              <a:spcAft>
                <a:spcPts val="0"/>
              </a:spcAft>
              <a:buClr>
                <a:schemeClr val="dk2"/>
              </a:buClr>
              <a:buSzPct val="100000"/>
              <a:buFont typeface="Noto Sans Symbols"/>
              <a:buNone/>
            </a:pPr>
            <a:r>
              <a:t/>
            </a:r>
            <a:endParaRPr b="1" sz="1400">
              <a:latin typeface="Times New Roman"/>
              <a:ea typeface="Times New Roman"/>
              <a:cs typeface="Times New Roman"/>
              <a:sym typeface="Times New Roman"/>
            </a:endParaRPr>
          </a:p>
          <a:p>
            <a:pPr indent="-203200" lvl="1" marL="685800" rtl="0" algn="l">
              <a:lnSpc>
                <a:spcPct val="150000"/>
              </a:lnSpc>
              <a:spcBef>
                <a:spcPts val="500"/>
              </a:spcBef>
              <a:spcAft>
                <a:spcPts val="0"/>
              </a:spcAft>
              <a:buClr>
                <a:schemeClr val="dk2"/>
              </a:buClr>
              <a:buSzPct val="100000"/>
              <a:buFont typeface="Noto Sans Symbols"/>
              <a:buNone/>
            </a:pPr>
            <a:r>
              <a:t/>
            </a:r>
            <a:endParaRPr b="1" sz="1400">
              <a:latin typeface="Times New Roman"/>
              <a:ea typeface="Times New Roman"/>
              <a:cs typeface="Times New Roman"/>
              <a:sym typeface="Times New Roman"/>
            </a:endParaRPr>
          </a:p>
          <a:p>
            <a:pPr indent="0" lvl="1" marL="393700" rtl="0" algn="l">
              <a:lnSpc>
                <a:spcPct val="150000"/>
              </a:lnSpc>
              <a:spcBef>
                <a:spcPts val="500"/>
              </a:spcBef>
              <a:spcAft>
                <a:spcPts val="0"/>
              </a:spcAft>
              <a:buClr>
                <a:schemeClr val="dk2"/>
              </a:buClr>
              <a:buSzPct val="100000"/>
              <a:buNone/>
            </a:pPr>
            <a:r>
              <a:rPr lang="en" sz="1400">
                <a:latin typeface="Times New Roman"/>
                <a:ea typeface="Times New Roman"/>
                <a:cs typeface="Times New Roman"/>
                <a:sym typeface="Times New Roman"/>
              </a:rPr>
              <a:t>	where 𝑦ˉyˉ​  is the mean of the actual values</a:t>
            </a:r>
            <a:r>
              <a:rPr lang="en" sz="1100"/>
              <a:t>.</a:t>
            </a:r>
            <a:endParaRPr b="1" sz="1200">
              <a:latin typeface="Times New Roman"/>
              <a:ea typeface="Times New Roman"/>
              <a:cs typeface="Times New Roman"/>
              <a:sym typeface="Times New Roman"/>
            </a:endParaRPr>
          </a:p>
        </p:txBody>
      </p:sp>
      <p:pic>
        <p:nvPicPr>
          <p:cNvPr id="384" name="Google Shape;384;p69"/>
          <p:cNvPicPr preferRelativeResize="0"/>
          <p:nvPr/>
        </p:nvPicPr>
        <p:blipFill rotWithShape="1">
          <a:blip r:embed="rId3">
            <a:alphaModFix/>
          </a:blip>
          <a:srcRect b="0" l="0" r="0" t="0"/>
          <a:stretch/>
        </p:blipFill>
        <p:spPr>
          <a:xfrm>
            <a:off x="2903992" y="2103318"/>
            <a:ext cx="2350621" cy="757343"/>
          </a:xfrm>
          <a:prstGeom prst="rect">
            <a:avLst/>
          </a:prstGeom>
          <a:noFill/>
          <a:ln>
            <a:noFill/>
          </a:ln>
        </p:spPr>
      </p:pic>
      <p:sp>
        <p:nvSpPr>
          <p:cNvPr id="385" name="Google Shape;385;p69"/>
          <p:cNvSpPr txBox="1"/>
          <p:nvPr/>
        </p:nvSpPr>
        <p:spPr>
          <a:xfrm>
            <a:off x="1147313" y="3525731"/>
            <a:ext cx="6615000" cy="891900"/>
          </a:xfrm>
          <a:prstGeom prst="rect">
            <a:avLst/>
          </a:prstGeom>
          <a:noFill/>
          <a:ln>
            <a:noFill/>
          </a:ln>
        </p:spPr>
        <p:txBody>
          <a:bodyPr anchorCtr="0" anchor="t" bIns="68575" lIns="68575" spcFirstLastPara="1" rIns="68575" wrap="square" tIns="68575">
            <a:spAutoFit/>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The proportion of variance in a model, often termed \(R^{2}\) (coefficient of determination) in regression, quantifies how much of the dependent variable's total variability is explained by the independent variables. It represents a "goodness of fit" measure, ranging typically from 0 to 1, where higher values indicate the model explains more data variance. </a:t>
            </a:r>
            <a:endParaRPr sz="11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0"/>
          <p:cNvSpPr txBox="1"/>
          <p:nvPr>
            <p:ph type="title"/>
          </p:nvPr>
        </p:nvSpPr>
        <p:spPr>
          <a:xfrm>
            <a:off x="1028700" y="514350"/>
            <a:ext cx="7200900" cy="228600"/>
          </a:xfrm>
          <a:prstGeom prst="rect">
            <a:avLst/>
          </a:prstGeom>
          <a:noFill/>
          <a:ln>
            <a:noFill/>
          </a:ln>
        </p:spPr>
        <p:txBody>
          <a:bodyPr anchorCtr="0" anchor="t" bIns="34275" lIns="68575" spcFirstLastPara="1" rIns="68575" wrap="square" tIns="34275">
            <a:noAutofit/>
          </a:bodyPr>
          <a:lstStyle/>
          <a:p>
            <a:pPr indent="0" lvl="0" marL="0" rtl="0" algn="l">
              <a:lnSpc>
                <a:spcPct val="89000"/>
              </a:lnSpc>
              <a:spcBef>
                <a:spcPts val="0"/>
              </a:spcBef>
              <a:spcAft>
                <a:spcPts val="0"/>
              </a:spcAft>
              <a:buClr>
                <a:schemeClr val="dk2"/>
              </a:buClr>
              <a:buSzPts val="1200"/>
              <a:buFont typeface="Times New Roman"/>
              <a:buNone/>
            </a:pPr>
            <a:r>
              <a:rPr b="1" lang="en" sz="1200">
                <a:latin typeface="Times New Roman"/>
                <a:ea typeface="Times New Roman"/>
                <a:cs typeface="Times New Roman"/>
                <a:sym typeface="Times New Roman"/>
              </a:rPr>
              <a:t>Classification Evaluation Metrics</a:t>
            </a:r>
            <a:endParaRPr/>
          </a:p>
        </p:txBody>
      </p:sp>
      <p:sp>
        <p:nvSpPr>
          <p:cNvPr id="391" name="Google Shape;391;p70"/>
          <p:cNvSpPr txBox="1"/>
          <p:nvPr>
            <p:ph idx="1" type="body"/>
          </p:nvPr>
        </p:nvSpPr>
        <p:spPr>
          <a:xfrm>
            <a:off x="1028700" y="800100"/>
            <a:ext cx="7200900" cy="3417600"/>
          </a:xfrm>
          <a:prstGeom prst="rect">
            <a:avLst/>
          </a:prstGeom>
          <a:noFill/>
          <a:ln>
            <a:noFill/>
          </a:ln>
        </p:spPr>
        <p:txBody>
          <a:bodyPr anchorCtr="0" anchor="t" bIns="34275" lIns="68575" spcFirstLastPara="1" rIns="68575" wrap="square" tIns="34275">
            <a:normAutofit lnSpcReduction="20000"/>
          </a:bodyPr>
          <a:lstStyle/>
          <a:p>
            <a:pPr indent="-292100" lvl="0" marL="292100" rtl="0" algn="l">
              <a:lnSpc>
                <a:spcPct val="94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Accuracy</a:t>
            </a:r>
            <a:r>
              <a:rPr lang="en"/>
              <a:t>: </a:t>
            </a:r>
            <a:r>
              <a:rPr lang="en" sz="1200">
                <a:latin typeface="Times New Roman"/>
                <a:ea typeface="Times New Roman"/>
                <a:cs typeface="Times New Roman"/>
                <a:sym typeface="Times New Roman"/>
              </a:rPr>
              <a:t>Accuracy is the percentage of predictions that the model makes correctly. It is calculated by dividing the number of correct predictions by the total number of predictions.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measures</a:t>
            </a:r>
            <a:r>
              <a:rPr b="1" lang="en" sz="1100"/>
              <a:t>: </a:t>
            </a:r>
            <a:r>
              <a:rPr lang="en" sz="1200">
                <a:latin typeface="Times New Roman"/>
                <a:ea typeface="Times New Roman"/>
                <a:cs typeface="Times New Roman"/>
                <a:sym typeface="Times New Roman"/>
              </a:rPr>
              <a:t>Accuracy tells us how often the model makes correct predictions</a:t>
            </a:r>
            <a:r>
              <a:rPr b="1" lang="en" sz="1100"/>
              <a:t>.</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a:t>
            </a:r>
            <a:r>
              <a:rPr lang="en" sz="1200">
                <a:latin typeface="Times New Roman"/>
                <a:ea typeface="Times New Roman"/>
                <a:cs typeface="Times New Roman"/>
                <a:sym typeface="Times New Roman"/>
              </a:rPr>
              <a:t>: Higher accuracy means the model is performing well overall.</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Formula:</a:t>
            </a:r>
            <a:endParaRPr/>
          </a:p>
          <a:p>
            <a:pPr indent="0" lvl="0" marL="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Example</a:t>
            </a:r>
            <a:r>
              <a:rPr lang="en" sz="1100"/>
              <a:t>: </a:t>
            </a:r>
            <a:r>
              <a:rPr lang="en" sz="1200">
                <a:latin typeface="Times New Roman"/>
                <a:ea typeface="Times New Roman"/>
                <a:cs typeface="Times New Roman"/>
                <a:sym typeface="Times New Roman"/>
              </a:rPr>
              <a:t>If a model makes 80 correct predictions out of 100, the accuracy is 80%.</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	</a:t>
            </a:r>
            <a:endParaRPr/>
          </a:p>
          <a:p>
            <a:pPr indent="0" lvl="0" marL="0" rtl="0" algn="l">
              <a:lnSpc>
                <a:spcPct val="94000"/>
              </a:lnSpc>
              <a:spcBef>
                <a:spcPts val="900"/>
              </a:spcBef>
              <a:spcAft>
                <a:spcPts val="0"/>
              </a:spcAft>
              <a:buClr>
                <a:schemeClr val="dk2"/>
              </a:buClr>
              <a:buSzPts val="1200"/>
              <a:buNone/>
            </a:pPr>
            <a:r>
              <a:t/>
            </a:r>
            <a:endParaRPr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500"/>
              <a:buNone/>
            </a:pPr>
            <a:r>
              <a:t/>
            </a:r>
            <a:endParaRPr/>
          </a:p>
        </p:txBody>
      </p:sp>
      <p:pic>
        <p:nvPicPr>
          <p:cNvPr id="392" name="Google Shape;392;p70"/>
          <p:cNvPicPr preferRelativeResize="0"/>
          <p:nvPr/>
        </p:nvPicPr>
        <p:blipFill rotWithShape="1">
          <a:blip r:embed="rId3">
            <a:alphaModFix/>
          </a:blip>
          <a:srcRect b="0" l="0" r="0" t="0"/>
          <a:stretch/>
        </p:blipFill>
        <p:spPr>
          <a:xfrm>
            <a:off x="2472173" y="2228802"/>
            <a:ext cx="3993914" cy="68589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71"/>
          <p:cNvSpPr txBox="1"/>
          <p:nvPr>
            <p:ph idx="1" type="body"/>
          </p:nvPr>
        </p:nvSpPr>
        <p:spPr>
          <a:xfrm>
            <a:off x="1062990" y="177165"/>
            <a:ext cx="7200900" cy="4149000"/>
          </a:xfrm>
          <a:prstGeom prst="rect">
            <a:avLst/>
          </a:prstGeom>
          <a:noFill/>
          <a:ln>
            <a:noFill/>
          </a:ln>
        </p:spPr>
        <p:txBody>
          <a:bodyPr anchorCtr="0" anchor="t" bIns="34275" lIns="68575" spcFirstLastPara="1" rIns="68575" wrap="square" tIns="34275">
            <a:normAutofit/>
          </a:bodyPr>
          <a:lstStyle/>
          <a:p>
            <a:pPr indent="-292100" lvl="0" marL="292100" rtl="0" algn="l">
              <a:lnSpc>
                <a:spcPct val="94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Precision</a:t>
            </a:r>
            <a:r>
              <a:rPr lang="en" sz="1200">
                <a:latin typeface="Times New Roman"/>
                <a:ea typeface="Times New Roman"/>
                <a:cs typeface="Times New Roman"/>
                <a:sym typeface="Times New Roman"/>
              </a:rPr>
              <a:t>: Precision is the percentage of positive predictions that the model makes that are actually correct. It is calculated by dividing the number of true positives by the total number of positive predictions.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measures</a:t>
            </a:r>
            <a:r>
              <a:rPr lang="en" sz="1200">
                <a:latin typeface="Times New Roman"/>
                <a:ea typeface="Times New Roman"/>
                <a:cs typeface="Times New Roman"/>
                <a:sym typeface="Times New Roman"/>
              </a:rPr>
              <a:t>: Precision tells us what percentage of positive predictions are actually correct.</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a:t>
            </a:r>
            <a:r>
              <a:rPr lang="en" sz="1200">
                <a:latin typeface="Times New Roman"/>
                <a:ea typeface="Times New Roman"/>
                <a:cs typeface="Times New Roman"/>
                <a:sym typeface="Times New Roman"/>
              </a:rPr>
              <a:t>: Higher precision means the model is good at identifying the positive class without many false positives.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Formula</a:t>
            </a:r>
            <a:r>
              <a:rPr lang="en" sz="1200">
                <a:latin typeface="Times New Roman"/>
                <a:ea typeface="Times New Roman"/>
                <a:cs typeface="Times New Roman"/>
                <a:sym typeface="Times New Roman"/>
              </a:rPr>
              <a:t>:</a:t>
            </a:r>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Example: </a:t>
            </a:r>
            <a:r>
              <a:rPr lang="en" sz="1200">
                <a:latin typeface="Times New Roman"/>
                <a:ea typeface="Times New Roman"/>
                <a:cs typeface="Times New Roman"/>
                <a:sym typeface="Times New Roman"/>
              </a:rPr>
              <a:t>If a model predicts 30 positive cases and 25 of them are correct, the precision is 25/30 = 83%.</a:t>
            </a:r>
            <a:endParaRPr b="1"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None/>
            </a:pPr>
            <a:r>
              <a:t/>
            </a:r>
            <a:endParaRPr b="1"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None/>
            </a:pPr>
            <a:r>
              <a:t/>
            </a:r>
            <a:endParaRPr sz="1200">
              <a:latin typeface="Times New Roman"/>
              <a:ea typeface="Times New Roman"/>
              <a:cs typeface="Times New Roman"/>
              <a:sym typeface="Times New Roman"/>
            </a:endParaRPr>
          </a:p>
        </p:txBody>
      </p:sp>
      <p:pic>
        <p:nvPicPr>
          <p:cNvPr id="398" name="Google Shape;398;p71"/>
          <p:cNvPicPr preferRelativeResize="0"/>
          <p:nvPr/>
        </p:nvPicPr>
        <p:blipFill rotWithShape="1">
          <a:blip r:embed="rId3">
            <a:alphaModFix/>
          </a:blip>
          <a:srcRect b="0" l="0" r="0" t="0"/>
          <a:stretch/>
        </p:blipFill>
        <p:spPr>
          <a:xfrm>
            <a:off x="2470003" y="1691596"/>
            <a:ext cx="4386875" cy="62873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72"/>
          <p:cNvSpPr txBox="1"/>
          <p:nvPr>
            <p:ph idx="1" type="body"/>
          </p:nvPr>
        </p:nvSpPr>
        <p:spPr>
          <a:xfrm>
            <a:off x="1137285" y="257175"/>
            <a:ext cx="7200900" cy="3834600"/>
          </a:xfrm>
          <a:prstGeom prst="rect">
            <a:avLst/>
          </a:prstGeom>
          <a:noFill/>
          <a:ln>
            <a:noFill/>
          </a:ln>
        </p:spPr>
        <p:txBody>
          <a:bodyPr anchorCtr="0" anchor="t" bIns="34275" lIns="68575" spcFirstLastPara="1" rIns="68575" wrap="square" tIns="34275">
            <a:normAutofit/>
          </a:bodyPr>
          <a:lstStyle/>
          <a:p>
            <a:pPr indent="-215900" lvl="0" marL="292100" rtl="0" algn="just">
              <a:lnSpc>
                <a:spcPct val="94000"/>
              </a:lnSpc>
              <a:spcBef>
                <a:spcPts val="0"/>
              </a:spcBef>
              <a:spcAft>
                <a:spcPts val="0"/>
              </a:spcAft>
              <a:buClr>
                <a:schemeClr val="dk2"/>
              </a:buClr>
              <a:buSzPts val="1200"/>
              <a:buNone/>
            </a:pPr>
            <a:r>
              <a:t/>
            </a:r>
            <a:endParaRPr b="1" sz="1200">
              <a:latin typeface="Times New Roman"/>
              <a:ea typeface="Times New Roman"/>
              <a:cs typeface="Times New Roman"/>
              <a:sym typeface="Times New Roman"/>
            </a:endParaRPr>
          </a:p>
          <a:p>
            <a:pPr indent="-292100" lvl="0" marL="292100" rtl="0" algn="just">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Recall</a:t>
            </a:r>
            <a:r>
              <a:rPr lang="en" sz="1200">
                <a:latin typeface="Times New Roman"/>
                <a:ea typeface="Times New Roman"/>
                <a:cs typeface="Times New Roman"/>
                <a:sym typeface="Times New Roman"/>
              </a:rPr>
              <a:t>: Recall is the percentage of all positive examples that the model correctly identifies. It is calculated by dividing the number of true positives by the total number of positive examples.</a:t>
            </a:r>
            <a:endParaRPr/>
          </a:p>
          <a:p>
            <a:pPr indent="-292100" lvl="0" marL="292100" rtl="0" algn="just">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measures</a:t>
            </a:r>
            <a:r>
              <a:rPr lang="en" sz="1200">
                <a:latin typeface="Times New Roman"/>
                <a:ea typeface="Times New Roman"/>
                <a:cs typeface="Times New Roman"/>
                <a:sym typeface="Times New Roman"/>
              </a:rPr>
              <a:t>: Recall tells us what percentage of the actual positive cases the model correctly identifies.</a:t>
            </a:r>
            <a:endParaRPr/>
          </a:p>
          <a:p>
            <a:pPr indent="-292100" lvl="0" marL="292100" rtl="0" algn="just">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a:t>
            </a:r>
            <a:r>
              <a:rPr lang="en" sz="1200">
                <a:latin typeface="Times New Roman"/>
                <a:ea typeface="Times New Roman"/>
                <a:cs typeface="Times New Roman"/>
                <a:sym typeface="Times New Roman"/>
              </a:rPr>
              <a:t> Higher recall means the model is good at finding all the positive cases without many false negatives.</a:t>
            </a:r>
            <a:endParaRPr/>
          </a:p>
          <a:p>
            <a:pPr indent="-292100" lvl="0" marL="292100" rtl="0" algn="just">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Formula</a:t>
            </a:r>
            <a:r>
              <a:rPr lang="en" sz="1200">
                <a:latin typeface="Times New Roman"/>
                <a:ea typeface="Times New Roman"/>
                <a:cs typeface="Times New Roman"/>
                <a:sym typeface="Times New Roman"/>
              </a:rPr>
              <a:t>:</a:t>
            </a:r>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98450" lvl="0" marL="292100" rtl="0" algn="just">
              <a:lnSpc>
                <a:spcPct val="94000"/>
              </a:lnSpc>
              <a:spcBef>
                <a:spcPts val="900"/>
              </a:spcBef>
              <a:spcAft>
                <a:spcPts val="0"/>
              </a:spcAft>
              <a:buClr>
                <a:schemeClr val="dk2"/>
              </a:buClr>
              <a:buSzPts val="1100"/>
              <a:buFont typeface="Noto Sans Symbols"/>
              <a:buChar char="⮚"/>
            </a:pPr>
            <a:r>
              <a:rPr b="1" lang="en" sz="1100">
                <a:latin typeface="Times New Roman"/>
                <a:ea typeface="Times New Roman"/>
                <a:cs typeface="Times New Roman"/>
                <a:sym typeface="Times New Roman"/>
              </a:rPr>
              <a:t>Example</a:t>
            </a:r>
            <a:r>
              <a:rPr lang="en" sz="1100">
                <a:latin typeface="Times New Roman"/>
                <a:ea typeface="Times New Roman"/>
                <a:cs typeface="Times New Roman"/>
                <a:sym typeface="Times New Roman"/>
              </a:rPr>
              <a:t>: If there are 40 actual positive cases and the model correctly identifies 30 of them, the recall is 30/40=75%</a:t>
            </a:r>
            <a:endParaRPr sz="1200">
              <a:latin typeface="Times New Roman"/>
              <a:ea typeface="Times New Roman"/>
              <a:cs typeface="Times New Roman"/>
              <a:sym typeface="Times New Roman"/>
            </a:endParaRPr>
          </a:p>
        </p:txBody>
      </p:sp>
      <p:pic>
        <p:nvPicPr>
          <p:cNvPr id="404" name="Google Shape;404;p72"/>
          <p:cNvPicPr preferRelativeResize="0"/>
          <p:nvPr/>
        </p:nvPicPr>
        <p:blipFill rotWithShape="1">
          <a:blip r:embed="rId3">
            <a:alphaModFix/>
          </a:blip>
          <a:srcRect b="0" l="0" r="0" t="0"/>
          <a:stretch/>
        </p:blipFill>
        <p:spPr>
          <a:xfrm>
            <a:off x="2543597" y="2131695"/>
            <a:ext cx="4193967" cy="7144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73"/>
          <p:cNvSpPr txBox="1"/>
          <p:nvPr>
            <p:ph idx="1" type="body"/>
          </p:nvPr>
        </p:nvSpPr>
        <p:spPr>
          <a:xfrm>
            <a:off x="1091565" y="160020"/>
            <a:ext cx="7200900" cy="4017600"/>
          </a:xfrm>
          <a:prstGeom prst="rect">
            <a:avLst/>
          </a:prstGeom>
          <a:noFill/>
          <a:ln>
            <a:noFill/>
          </a:ln>
        </p:spPr>
        <p:txBody>
          <a:bodyPr anchorCtr="0" anchor="t" bIns="34275" lIns="68575" spcFirstLastPara="1" rIns="68575" wrap="square" tIns="34275">
            <a:normAutofit/>
          </a:bodyPr>
          <a:lstStyle/>
          <a:p>
            <a:pPr indent="-292100" lvl="0" marL="292100" rtl="0" algn="l">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F1 score</a:t>
            </a:r>
            <a:r>
              <a:rPr lang="en" sz="1200">
                <a:latin typeface="Times New Roman"/>
                <a:ea typeface="Times New Roman"/>
                <a:cs typeface="Times New Roman"/>
                <a:sym typeface="Times New Roman"/>
              </a:rPr>
              <a:t>: The F1 score is a weighted average of precision and recall. It is calculated by taking the harmonic mean of precision and recall.</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measures</a:t>
            </a:r>
            <a:r>
              <a:rPr lang="en" sz="1200">
                <a:latin typeface="Times New Roman"/>
                <a:ea typeface="Times New Roman"/>
                <a:cs typeface="Times New Roman"/>
                <a:sym typeface="Times New Roman"/>
              </a:rPr>
              <a:t>: The F1 score is a balance between precision and recall, providing a single metric that considers both.</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a:t>
            </a:r>
            <a:r>
              <a:rPr b="1" lang="en" sz="1100"/>
              <a:t>: </a:t>
            </a:r>
            <a:r>
              <a:rPr lang="en" sz="1200">
                <a:latin typeface="Times New Roman"/>
                <a:ea typeface="Times New Roman"/>
                <a:cs typeface="Times New Roman"/>
                <a:sym typeface="Times New Roman"/>
              </a:rPr>
              <a:t>Higher F1 scores indicate better model performance, especially when there's an imbalance between precision and recall.</a:t>
            </a:r>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Formula</a:t>
            </a:r>
            <a:r>
              <a:rPr lang="en" sz="1200">
                <a:latin typeface="Times New Roman"/>
                <a:ea typeface="Times New Roman"/>
                <a:cs typeface="Times New Roman"/>
                <a:sym typeface="Times New Roman"/>
              </a:rPr>
              <a:t>:</a:t>
            </a:r>
            <a:endParaRPr/>
          </a:p>
          <a:p>
            <a:pPr indent="-215900" lvl="0" marL="292100" rtl="0" algn="l">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l">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92100" lvl="0" marL="292100" rtl="0" algn="l">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Example</a:t>
            </a:r>
            <a:r>
              <a:rPr lang="en" sz="1200">
                <a:latin typeface="Times New Roman"/>
                <a:ea typeface="Times New Roman"/>
                <a:cs typeface="Times New Roman"/>
                <a:sym typeface="Times New Roman"/>
              </a:rPr>
              <a:t>: If a model has a precision of 80% and a recall of 70%, the F1 score is</a:t>
            </a:r>
            <a:endParaRPr sz="1200">
              <a:latin typeface="Times New Roman"/>
              <a:ea typeface="Times New Roman"/>
              <a:cs typeface="Times New Roman"/>
              <a:sym typeface="Times New Roman"/>
            </a:endParaRPr>
          </a:p>
        </p:txBody>
      </p:sp>
      <p:pic>
        <p:nvPicPr>
          <p:cNvPr id="410" name="Google Shape;410;p73"/>
          <p:cNvPicPr preferRelativeResize="0"/>
          <p:nvPr/>
        </p:nvPicPr>
        <p:blipFill rotWithShape="1">
          <a:blip r:embed="rId3">
            <a:alphaModFix/>
          </a:blip>
          <a:srcRect b="0" l="0" r="0" t="0"/>
          <a:stretch/>
        </p:blipFill>
        <p:spPr>
          <a:xfrm>
            <a:off x="2933005" y="2398814"/>
            <a:ext cx="3129399" cy="814501"/>
          </a:xfrm>
          <a:prstGeom prst="rect">
            <a:avLst/>
          </a:prstGeom>
          <a:noFill/>
          <a:ln>
            <a:noFill/>
          </a:ln>
        </p:spPr>
      </p:pic>
      <p:pic>
        <p:nvPicPr>
          <p:cNvPr id="411" name="Google Shape;411;p73"/>
          <p:cNvPicPr preferRelativeResize="0"/>
          <p:nvPr/>
        </p:nvPicPr>
        <p:blipFill rotWithShape="1">
          <a:blip r:embed="rId4">
            <a:alphaModFix/>
          </a:blip>
          <a:srcRect b="0" l="0" r="0" t="0"/>
          <a:stretch/>
        </p:blipFill>
        <p:spPr>
          <a:xfrm>
            <a:off x="2888715" y="3670411"/>
            <a:ext cx="3115110" cy="67160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74"/>
          <p:cNvPicPr preferRelativeResize="0"/>
          <p:nvPr/>
        </p:nvPicPr>
        <p:blipFill>
          <a:blip r:embed="rId3">
            <a:alphaModFix/>
          </a:blip>
          <a:stretch>
            <a:fillRect/>
          </a:stretch>
        </p:blipFill>
        <p:spPr>
          <a:xfrm>
            <a:off x="655800" y="340913"/>
            <a:ext cx="8359574" cy="44299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75"/>
          <p:cNvPicPr preferRelativeResize="0"/>
          <p:nvPr/>
        </p:nvPicPr>
        <p:blipFill>
          <a:blip r:embed="rId3">
            <a:alphaModFix/>
          </a:blip>
          <a:stretch>
            <a:fillRect/>
          </a:stretch>
        </p:blipFill>
        <p:spPr>
          <a:xfrm>
            <a:off x="794813" y="114300"/>
            <a:ext cx="8034862" cy="459710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76"/>
          <p:cNvPicPr preferRelativeResize="0"/>
          <p:nvPr/>
        </p:nvPicPr>
        <p:blipFill rotWithShape="1">
          <a:blip r:embed="rId3">
            <a:alphaModFix/>
          </a:blip>
          <a:srcRect b="0" l="0" r="0" t="3251"/>
          <a:stretch/>
        </p:blipFill>
        <p:spPr>
          <a:xfrm>
            <a:off x="854269" y="251719"/>
            <a:ext cx="7987799" cy="444976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77"/>
          <p:cNvPicPr preferRelativeResize="0"/>
          <p:nvPr/>
        </p:nvPicPr>
        <p:blipFill>
          <a:blip r:embed="rId3">
            <a:alphaModFix/>
          </a:blip>
          <a:stretch>
            <a:fillRect/>
          </a:stretch>
        </p:blipFill>
        <p:spPr>
          <a:xfrm>
            <a:off x="774994" y="183675"/>
            <a:ext cx="8146352" cy="456737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78"/>
          <p:cNvPicPr preferRelativeResize="0"/>
          <p:nvPr/>
        </p:nvPicPr>
        <p:blipFill>
          <a:blip r:embed="rId3">
            <a:alphaModFix/>
          </a:blip>
          <a:stretch>
            <a:fillRect/>
          </a:stretch>
        </p:blipFill>
        <p:spPr>
          <a:xfrm>
            <a:off x="735356" y="114300"/>
            <a:ext cx="8294342" cy="478541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79"/>
          <p:cNvPicPr preferRelativeResize="0"/>
          <p:nvPr/>
        </p:nvPicPr>
        <p:blipFill>
          <a:blip r:embed="rId3">
            <a:alphaModFix/>
          </a:blip>
          <a:stretch>
            <a:fillRect/>
          </a:stretch>
        </p:blipFill>
        <p:spPr>
          <a:xfrm>
            <a:off x="834450" y="114300"/>
            <a:ext cx="8136448" cy="473585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p80"/>
          <p:cNvPicPr preferRelativeResize="0"/>
          <p:nvPr/>
        </p:nvPicPr>
        <p:blipFill>
          <a:blip r:embed="rId3">
            <a:alphaModFix/>
          </a:blip>
          <a:stretch>
            <a:fillRect/>
          </a:stretch>
        </p:blipFill>
        <p:spPr>
          <a:xfrm>
            <a:off x="765075" y="114300"/>
            <a:ext cx="8264626" cy="469621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81"/>
          <p:cNvPicPr preferRelativeResize="0"/>
          <p:nvPr/>
        </p:nvPicPr>
        <p:blipFill>
          <a:blip r:embed="rId3">
            <a:alphaModFix/>
          </a:blip>
          <a:stretch>
            <a:fillRect/>
          </a:stretch>
        </p:blipFill>
        <p:spPr>
          <a:xfrm>
            <a:off x="685800" y="114300"/>
            <a:ext cx="8343902" cy="471603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82"/>
          <p:cNvPicPr preferRelativeResize="0"/>
          <p:nvPr/>
        </p:nvPicPr>
        <p:blipFill>
          <a:blip r:embed="rId3">
            <a:alphaModFix/>
          </a:blip>
          <a:stretch>
            <a:fillRect/>
          </a:stretch>
        </p:blipFill>
        <p:spPr>
          <a:xfrm>
            <a:off x="794813" y="114300"/>
            <a:ext cx="8234885" cy="46070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3"/>
          <p:cNvSpPr txBox="1"/>
          <p:nvPr>
            <p:ph idx="1" type="body"/>
          </p:nvPr>
        </p:nvSpPr>
        <p:spPr>
          <a:xfrm>
            <a:off x="971550" y="274320"/>
            <a:ext cx="7755300" cy="4143300"/>
          </a:xfrm>
          <a:prstGeom prst="rect">
            <a:avLst/>
          </a:prstGeom>
          <a:noFill/>
          <a:ln>
            <a:noFill/>
          </a:ln>
        </p:spPr>
        <p:txBody>
          <a:bodyPr anchorCtr="0" anchor="t" bIns="34275" lIns="68575" spcFirstLastPara="1" rIns="68575" wrap="square" tIns="34275">
            <a:normAutofit/>
          </a:bodyPr>
          <a:lstStyle/>
          <a:p>
            <a:pPr indent="-292100" lvl="0" marL="292100" rtl="0" algn="just">
              <a:lnSpc>
                <a:spcPct val="150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Confusion matrix</a:t>
            </a:r>
            <a:r>
              <a:rPr lang="en" sz="1200">
                <a:latin typeface="Times New Roman"/>
                <a:ea typeface="Times New Roman"/>
                <a:cs typeface="Times New Roman"/>
                <a:sym typeface="Times New Roman"/>
              </a:rPr>
              <a:t>: A confusion matrix is a table that shows the number of predictions for each class, along with the actual class labels. </a:t>
            </a:r>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just">
              <a:lnSpc>
                <a:spcPct val="150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What it shows</a:t>
            </a:r>
            <a:r>
              <a:rPr lang="en" sz="1200">
                <a:latin typeface="Times New Roman"/>
                <a:ea typeface="Times New Roman"/>
                <a:cs typeface="Times New Roman"/>
                <a:sym typeface="Times New Roman"/>
              </a:rPr>
              <a:t>: A confusion matrix is a table that shows the number of true positives, true negatives, false positives, and false negatives.</a:t>
            </a:r>
            <a:endParaRPr/>
          </a:p>
          <a:p>
            <a:pPr indent="-292100" lvl="0" marL="292100" rtl="0" algn="just">
              <a:lnSpc>
                <a:spcPct val="150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How to interpret</a:t>
            </a:r>
            <a:r>
              <a:rPr lang="en" sz="1200">
                <a:latin typeface="Times New Roman"/>
                <a:ea typeface="Times New Roman"/>
                <a:cs typeface="Times New Roman"/>
                <a:sym typeface="Times New Roman"/>
              </a:rPr>
              <a:t>: It helps visualize the performance of the model and identify where it is making mistakes.</a:t>
            </a:r>
            <a:endParaRPr/>
          </a:p>
        </p:txBody>
      </p:sp>
      <p:pic>
        <p:nvPicPr>
          <p:cNvPr id="471" name="Google Shape;471;p83"/>
          <p:cNvPicPr preferRelativeResize="0"/>
          <p:nvPr/>
        </p:nvPicPr>
        <p:blipFill rotWithShape="1">
          <a:blip r:embed="rId3">
            <a:alphaModFix/>
          </a:blip>
          <a:srcRect b="0" l="0" r="0" t="0"/>
          <a:stretch/>
        </p:blipFill>
        <p:spPr>
          <a:xfrm>
            <a:off x="2577464" y="955120"/>
            <a:ext cx="4076224" cy="199953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84"/>
          <p:cNvSpPr txBox="1"/>
          <p:nvPr>
            <p:ph idx="1" type="body"/>
          </p:nvPr>
        </p:nvSpPr>
        <p:spPr>
          <a:xfrm>
            <a:off x="971550" y="314325"/>
            <a:ext cx="7200900" cy="3937800"/>
          </a:xfrm>
          <a:prstGeom prst="rect">
            <a:avLst/>
          </a:prstGeom>
          <a:noFill/>
          <a:ln>
            <a:noFill/>
          </a:ln>
        </p:spPr>
        <p:txBody>
          <a:bodyPr anchorCtr="0" anchor="t" bIns="34275" lIns="68575" spcFirstLastPara="1" rIns="68575" wrap="square" tIns="34275">
            <a:normAutofit lnSpcReduction="10000"/>
          </a:bodyPr>
          <a:lstStyle/>
          <a:p>
            <a:pPr indent="-292100" lvl="0" marL="292100" rtl="0" algn="l">
              <a:lnSpc>
                <a:spcPct val="94000"/>
              </a:lnSpc>
              <a:spcBef>
                <a:spcPts val="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Example</a:t>
            </a:r>
            <a:r>
              <a:rPr lang="en" sz="1200">
                <a:latin typeface="Times New Roman"/>
                <a:ea typeface="Times New Roman"/>
                <a:cs typeface="Times New Roman"/>
                <a:sym typeface="Times New Roman"/>
              </a:rPr>
              <a:t>: For a binary classification</a:t>
            </a:r>
            <a:endParaRPr/>
          </a:p>
          <a:p>
            <a:pPr indent="-190500" lvl="0" marL="292100" rtl="0" algn="l">
              <a:lnSpc>
                <a:spcPct val="94000"/>
              </a:lnSpc>
              <a:spcBef>
                <a:spcPts val="900"/>
              </a:spcBef>
              <a:spcAft>
                <a:spcPts val="0"/>
              </a:spcAft>
              <a:buClr>
                <a:schemeClr val="dk2"/>
              </a:buClr>
              <a:buSzPts val="1500"/>
              <a:buFont typeface="Noto Sans Symbols"/>
              <a:buNone/>
            </a:pPr>
            <a:r>
              <a:t/>
            </a:r>
            <a:endParaRPr>
              <a:latin typeface="Times New Roman"/>
              <a:ea typeface="Times New Roman"/>
              <a:cs typeface="Times New Roman"/>
              <a:sym typeface="Times New Roman"/>
            </a:endParaRPr>
          </a:p>
          <a:p>
            <a:pPr indent="-190500" lvl="0" marL="292100" rtl="0" algn="l">
              <a:lnSpc>
                <a:spcPct val="94000"/>
              </a:lnSpc>
              <a:spcBef>
                <a:spcPts val="900"/>
              </a:spcBef>
              <a:spcAft>
                <a:spcPts val="0"/>
              </a:spcAft>
              <a:buClr>
                <a:schemeClr val="dk2"/>
              </a:buClr>
              <a:buSzPts val="1500"/>
              <a:buFont typeface="Noto Sans Symbols"/>
              <a:buNone/>
            </a:pPr>
            <a:r>
              <a:t/>
            </a:r>
            <a:endParaRPr sz="1500">
              <a:latin typeface="Times New Roman"/>
              <a:ea typeface="Times New Roman"/>
              <a:cs typeface="Times New Roman"/>
              <a:sym typeface="Times New Roman"/>
            </a:endParaRPr>
          </a:p>
          <a:p>
            <a:pPr indent="-190500" lvl="0" marL="292100" rtl="0" algn="l">
              <a:lnSpc>
                <a:spcPct val="94000"/>
              </a:lnSpc>
              <a:spcBef>
                <a:spcPts val="900"/>
              </a:spcBef>
              <a:spcAft>
                <a:spcPts val="0"/>
              </a:spcAft>
              <a:buClr>
                <a:schemeClr val="dk2"/>
              </a:buClr>
              <a:buSzPts val="1500"/>
              <a:buFont typeface="Noto Sans Symbols"/>
              <a:buNone/>
            </a:pPr>
            <a:r>
              <a:t/>
            </a:r>
            <a:endParaRPr sz="1500">
              <a:latin typeface="Times New Roman"/>
              <a:ea typeface="Times New Roman"/>
              <a:cs typeface="Times New Roman"/>
              <a:sym typeface="Times New Roman"/>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Example Interpretation</a:t>
            </a:r>
            <a:r>
              <a:rPr lang="en" sz="1200">
                <a:latin typeface="Times New Roman"/>
                <a:ea typeface="Times New Roman"/>
                <a:cs typeface="Times New Roman"/>
                <a:sym typeface="Times New Roman"/>
              </a:rPr>
              <a:t>: If a confusion matrix has:</a:t>
            </a:r>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15900" lvl="0" marL="292100" rtl="0" algn="l">
              <a:lnSpc>
                <a:spcPct val="94000"/>
              </a:lnSpc>
              <a:spcBef>
                <a:spcPts val="900"/>
              </a:spcBef>
              <a:spcAft>
                <a:spcPts val="0"/>
              </a:spcAft>
              <a:buClr>
                <a:schemeClr val="dk2"/>
              </a:buClr>
              <a:buSzPts val="1200"/>
              <a:buFont typeface="Noto Sans Symbols"/>
              <a:buNone/>
            </a:pPr>
            <a:r>
              <a:t/>
            </a:r>
            <a:endParaRPr sz="1200">
              <a:latin typeface="Times New Roman"/>
              <a:ea typeface="Times New Roman"/>
              <a:cs typeface="Times New Roman"/>
              <a:sym typeface="Times New Roman"/>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True Positives (TP)     </a:t>
            </a:r>
            <a:r>
              <a:rPr lang="en" sz="1200">
                <a:latin typeface="Times New Roman"/>
                <a:ea typeface="Times New Roman"/>
                <a:cs typeface="Times New Roman"/>
                <a:sym typeface="Times New Roman"/>
              </a:rPr>
              <a:t>=  50   : Correctly predicted positives.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False Negatives (FN)   </a:t>
            </a:r>
            <a:r>
              <a:rPr lang="en" sz="1200">
                <a:latin typeface="Times New Roman"/>
                <a:ea typeface="Times New Roman"/>
                <a:cs typeface="Times New Roman"/>
                <a:sym typeface="Times New Roman"/>
              </a:rPr>
              <a:t>=  10   : Actual positives incorrectly predicted as negatives.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False Positives (FP)     </a:t>
            </a:r>
            <a:r>
              <a:rPr lang="en" sz="1200">
                <a:latin typeface="Times New Roman"/>
                <a:ea typeface="Times New Roman"/>
                <a:cs typeface="Times New Roman"/>
                <a:sym typeface="Times New Roman"/>
              </a:rPr>
              <a:t>=  5     : Actual negatives incorrectly predicted as positives.</a:t>
            </a:r>
            <a:endParaRPr/>
          </a:p>
          <a:p>
            <a:pPr indent="-292100" lvl="0" marL="292100" rtl="0" algn="l">
              <a:lnSpc>
                <a:spcPct val="94000"/>
              </a:lnSpc>
              <a:spcBef>
                <a:spcPts val="900"/>
              </a:spcBef>
              <a:spcAft>
                <a:spcPts val="0"/>
              </a:spcAft>
              <a:buClr>
                <a:schemeClr val="dk2"/>
              </a:buClr>
              <a:buSzPts val="1200"/>
              <a:buFont typeface="Noto Sans Symbols"/>
              <a:buChar char="⮚"/>
            </a:pPr>
            <a:r>
              <a:rPr b="1" lang="en" sz="1200">
                <a:latin typeface="Times New Roman"/>
                <a:ea typeface="Times New Roman"/>
                <a:cs typeface="Times New Roman"/>
                <a:sym typeface="Times New Roman"/>
              </a:rPr>
              <a:t>True Negatives (TN)    </a:t>
            </a:r>
            <a:r>
              <a:rPr lang="en" sz="1200">
                <a:latin typeface="Times New Roman"/>
                <a:ea typeface="Times New Roman"/>
                <a:cs typeface="Times New Roman"/>
                <a:sym typeface="Times New Roman"/>
              </a:rPr>
              <a:t>=  100 : Correctly predicted negatives.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190500" lvl="0" marL="292100" rtl="0" algn="l">
              <a:lnSpc>
                <a:spcPct val="94000"/>
              </a:lnSpc>
              <a:spcBef>
                <a:spcPts val="900"/>
              </a:spcBef>
              <a:spcAft>
                <a:spcPts val="0"/>
              </a:spcAft>
              <a:buClr>
                <a:schemeClr val="dk2"/>
              </a:buClr>
              <a:buSzPts val="1500"/>
              <a:buNone/>
            </a:pPr>
            <a:r>
              <a:t/>
            </a:r>
            <a:endParaRPr/>
          </a:p>
        </p:txBody>
      </p:sp>
      <p:pic>
        <p:nvPicPr>
          <p:cNvPr id="477" name="Google Shape;477;p84"/>
          <p:cNvPicPr preferRelativeResize="0"/>
          <p:nvPr/>
        </p:nvPicPr>
        <p:blipFill rotWithShape="1">
          <a:blip r:embed="rId3">
            <a:alphaModFix/>
          </a:blip>
          <a:srcRect b="0" l="0" r="0" t="0"/>
          <a:stretch/>
        </p:blipFill>
        <p:spPr>
          <a:xfrm>
            <a:off x="1936329" y="767896"/>
            <a:ext cx="4894152" cy="807356"/>
          </a:xfrm>
          <a:prstGeom prst="rect">
            <a:avLst/>
          </a:prstGeom>
          <a:noFill/>
          <a:ln>
            <a:noFill/>
          </a:ln>
        </p:spPr>
      </p:pic>
      <p:pic>
        <p:nvPicPr>
          <p:cNvPr id="478" name="Google Shape;478;p84"/>
          <p:cNvPicPr preferRelativeResize="0"/>
          <p:nvPr/>
        </p:nvPicPr>
        <p:blipFill rotWithShape="1">
          <a:blip r:embed="rId4">
            <a:alphaModFix/>
          </a:blip>
          <a:srcRect b="0" l="0" r="0" t="0"/>
          <a:stretch/>
        </p:blipFill>
        <p:spPr>
          <a:xfrm>
            <a:off x="1936329" y="1911616"/>
            <a:ext cx="4894151" cy="743053"/>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5"/>
          <p:cNvSpPr txBox="1"/>
          <p:nvPr>
            <p:ph idx="1" type="body"/>
          </p:nvPr>
        </p:nvSpPr>
        <p:spPr>
          <a:xfrm>
            <a:off x="897255" y="648653"/>
            <a:ext cx="7475100" cy="3960600"/>
          </a:xfrm>
          <a:prstGeom prst="rect">
            <a:avLst/>
          </a:prstGeom>
          <a:noFill/>
          <a:ln>
            <a:noFill/>
          </a:ln>
        </p:spPr>
        <p:txBody>
          <a:bodyPr anchorCtr="0" anchor="t" bIns="34275" lIns="68575" spcFirstLastPara="1" rIns="68575" wrap="square" tIns="34275">
            <a:normAutofit/>
          </a:bodyPr>
          <a:lstStyle/>
          <a:p>
            <a:pPr indent="0" lvl="0" marL="0" rtl="0" algn="l">
              <a:lnSpc>
                <a:spcPct val="94000"/>
              </a:lnSpc>
              <a:spcBef>
                <a:spcPts val="0"/>
              </a:spcBef>
              <a:spcAft>
                <a:spcPts val="0"/>
              </a:spcAft>
              <a:buClr>
                <a:schemeClr val="dk2"/>
              </a:buClr>
              <a:buSzPts val="1200"/>
              <a:buNone/>
            </a:pPr>
            <a:r>
              <a:rPr b="1" lang="en" sz="1200">
                <a:latin typeface="Times New Roman"/>
                <a:ea typeface="Times New Roman"/>
                <a:cs typeface="Times New Roman"/>
                <a:sym typeface="Times New Roman"/>
              </a:rPr>
              <a:t>Summary</a:t>
            </a:r>
            <a:endParaRPr/>
          </a:p>
          <a:p>
            <a:pPr indent="0" lvl="0" marL="0" rtl="0" algn="l">
              <a:lnSpc>
                <a:spcPct val="94000"/>
              </a:lnSpc>
              <a:spcBef>
                <a:spcPts val="900"/>
              </a:spcBef>
              <a:spcAft>
                <a:spcPts val="0"/>
              </a:spcAft>
              <a:buClr>
                <a:schemeClr val="dk2"/>
              </a:buClr>
              <a:buSzPts val="1100"/>
              <a:buNone/>
            </a:pPr>
            <a:r>
              <a:rPr b="1" lang="en" sz="1100"/>
              <a:t>	</a:t>
            </a:r>
            <a:r>
              <a:rPr b="1" lang="en" sz="1200">
                <a:latin typeface="Times New Roman"/>
                <a:ea typeface="Times New Roman"/>
                <a:cs typeface="Times New Roman"/>
                <a:sym typeface="Times New Roman"/>
              </a:rPr>
              <a:t>Accuracy  </a:t>
            </a:r>
            <a:r>
              <a:rPr lang="en" sz="1200">
                <a:latin typeface="Times New Roman"/>
                <a:ea typeface="Times New Roman"/>
                <a:cs typeface="Times New Roman"/>
                <a:sym typeface="Times New Roman"/>
              </a:rPr>
              <a:t>: Overall correctness of the model.</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Precision   </a:t>
            </a:r>
            <a:r>
              <a:rPr lang="en" sz="1200"/>
              <a:t>: </a:t>
            </a:r>
            <a:r>
              <a:rPr lang="en" sz="1200">
                <a:latin typeface="Times New Roman"/>
                <a:ea typeface="Times New Roman"/>
                <a:cs typeface="Times New Roman"/>
                <a:sym typeface="Times New Roman"/>
              </a:rPr>
              <a:t>Correctness of positive predictions.</a:t>
            </a:r>
            <a:endParaRPr b="1" sz="1200">
              <a:latin typeface="Times New Roman"/>
              <a:ea typeface="Times New Roman"/>
              <a:cs typeface="Times New Roman"/>
              <a:sym typeface="Times New Roman"/>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Recall      	 </a:t>
            </a:r>
            <a:r>
              <a:rPr lang="en" sz="1200"/>
              <a:t>: </a:t>
            </a:r>
            <a:r>
              <a:rPr lang="en" sz="1200">
                <a:latin typeface="Times New Roman"/>
                <a:ea typeface="Times New Roman"/>
                <a:cs typeface="Times New Roman"/>
                <a:sym typeface="Times New Roman"/>
              </a:rPr>
              <a:t>Ability to identify all positive cases.</a:t>
            </a:r>
            <a:endParaRPr/>
          </a:p>
          <a:p>
            <a:pPr indent="0" lvl="0" marL="0" rtl="0" algn="l">
              <a:lnSpc>
                <a:spcPct val="94000"/>
              </a:lnSpc>
              <a:spcBef>
                <a:spcPts val="900"/>
              </a:spcBef>
              <a:spcAft>
                <a:spcPts val="0"/>
              </a:spcAft>
              <a:buClr>
                <a:schemeClr val="dk2"/>
              </a:buClr>
              <a:buSzPts val="1200"/>
              <a:buNone/>
            </a:pPr>
            <a:r>
              <a:rPr b="1" lang="en" sz="1200">
                <a:latin typeface="Times New Roman"/>
                <a:ea typeface="Times New Roman"/>
                <a:cs typeface="Times New Roman"/>
                <a:sym typeface="Times New Roman"/>
              </a:rPr>
              <a:t>	F1 Score    : </a:t>
            </a:r>
            <a:r>
              <a:rPr lang="en" sz="1200">
                <a:latin typeface="Times New Roman"/>
                <a:ea typeface="Times New Roman"/>
                <a:cs typeface="Times New Roman"/>
                <a:sym typeface="Times New Roman"/>
              </a:rPr>
              <a:t>Balance between precision and recall.</a:t>
            </a:r>
            <a:endParaRPr/>
          </a:p>
          <a:p>
            <a:pPr indent="0" lvl="0" marL="0" rtl="0" algn="l">
              <a:lnSpc>
                <a:spcPct val="94000"/>
              </a:lnSpc>
              <a:spcBef>
                <a:spcPts val="900"/>
              </a:spcBef>
              <a:spcAft>
                <a:spcPts val="0"/>
              </a:spcAft>
              <a:buClr>
                <a:schemeClr val="dk2"/>
              </a:buClr>
              <a:buSzPts val="1200"/>
              <a:buNone/>
            </a:pP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Confusion Matrix</a:t>
            </a:r>
            <a:r>
              <a:rPr lang="en" sz="1100"/>
              <a:t>: </a:t>
            </a:r>
            <a:r>
              <a:rPr lang="en" sz="1200">
                <a:latin typeface="Times New Roman"/>
                <a:ea typeface="Times New Roman"/>
                <a:cs typeface="Times New Roman"/>
                <a:sym typeface="Times New Roman"/>
              </a:rPr>
              <a:t>Detailed breakdown of correct and incorrect predictions.</a:t>
            </a:r>
            <a:endParaRPr sz="1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